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0" r:id="rId1"/>
  </p:sldMasterIdLst>
  <p:notesMasterIdLst>
    <p:notesMasterId r:id="rId37"/>
  </p:notesMasterIdLst>
  <p:sldIdLst>
    <p:sldId id="418" r:id="rId2"/>
    <p:sldId id="499" r:id="rId3"/>
    <p:sldId id="532" r:id="rId4"/>
    <p:sldId id="500" r:id="rId5"/>
    <p:sldId id="530" r:id="rId6"/>
    <p:sldId id="531" r:id="rId7"/>
    <p:sldId id="529" r:id="rId8"/>
    <p:sldId id="528" r:id="rId9"/>
    <p:sldId id="527" r:id="rId10"/>
    <p:sldId id="523" r:id="rId11"/>
    <p:sldId id="524" r:id="rId12"/>
    <p:sldId id="525" r:id="rId13"/>
    <p:sldId id="526" r:id="rId14"/>
    <p:sldId id="522" r:id="rId15"/>
    <p:sldId id="521" r:id="rId16"/>
    <p:sldId id="520" r:id="rId17"/>
    <p:sldId id="501" r:id="rId18"/>
    <p:sldId id="502" r:id="rId19"/>
    <p:sldId id="503" r:id="rId20"/>
    <p:sldId id="504" r:id="rId21"/>
    <p:sldId id="505" r:id="rId22"/>
    <p:sldId id="506" r:id="rId23"/>
    <p:sldId id="508" r:id="rId24"/>
    <p:sldId id="509" r:id="rId25"/>
    <p:sldId id="507" r:id="rId26"/>
    <p:sldId id="514" r:id="rId27"/>
    <p:sldId id="510" r:id="rId28"/>
    <p:sldId id="511" r:id="rId29"/>
    <p:sldId id="512" r:id="rId30"/>
    <p:sldId id="513" r:id="rId31"/>
    <p:sldId id="519" r:id="rId32"/>
    <p:sldId id="516" r:id="rId33"/>
    <p:sldId id="517" r:id="rId34"/>
    <p:sldId id="518" r:id="rId35"/>
    <p:sldId id="515" r:id="rId3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C1E189-9CBC-4E80-A29D-FE55FB48779C}" v="9" dt="2025-11-28T18:17:29.1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ramod Naik" userId="ceb6df04-ef15-4d9b-a141-998a03559d75" providerId="ADAL" clId="{62E9B5AE-779D-4001-92D3-8FF830A8A9C1}"/>
    <pc:docChg chg="undo custSel addSld delSld modSld sldOrd">
      <pc:chgData name="Pramod Naik" userId="ceb6df04-ef15-4d9b-a141-998a03559d75" providerId="ADAL" clId="{62E9B5AE-779D-4001-92D3-8FF830A8A9C1}" dt="2025-11-28T18:21:19.492" v="456"/>
      <pc:docMkLst>
        <pc:docMk/>
      </pc:docMkLst>
      <pc:sldChg chg="modSp mod ord">
        <pc:chgData name="Pramod Naik" userId="ceb6df04-ef15-4d9b-a141-998a03559d75" providerId="ADAL" clId="{62E9B5AE-779D-4001-92D3-8FF830A8A9C1}" dt="2025-11-28T18:21:19.492" v="456"/>
        <pc:sldMkLst>
          <pc:docMk/>
          <pc:sldMk cId="900395705" sldId="500"/>
        </pc:sldMkLst>
        <pc:spChg chg="mod">
          <ac:chgData name="Pramod Naik" userId="ceb6df04-ef15-4d9b-a141-998a03559d75" providerId="ADAL" clId="{62E9B5AE-779D-4001-92D3-8FF830A8A9C1}" dt="2025-11-28T18:15:16.170" v="418" actId="207"/>
          <ac:spMkLst>
            <pc:docMk/>
            <pc:sldMk cId="900395705" sldId="500"/>
            <ac:spMk id="3" creationId="{38A9A654-5603-C7C9-966E-753272CC1F3B}"/>
          </ac:spMkLst>
        </pc:spChg>
      </pc:sldChg>
      <pc:sldChg chg="add">
        <pc:chgData name="Pramod Naik" userId="ceb6df04-ef15-4d9b-a141-998a03559d75" providerId="ADAL" clId="{62E9B5AE-779D-4001-92D3-8FF830A8A9C1}" dt="2025-11-12T17:43:49.065" v="163"/>
        <pc:sldMkLst>
          <pc:docMk/>
          <pc:sldMk cId="3556443946" sldId="520"/>
        </pc:sldMkLst>
      </pc:sldChg>
      <pc:sldChg chg="addSp delSp modSp new mod">
        <pc:chgData name="Pramod Naik" userId="ceb6df04-ef15-4d9b-a141-998a03559d75" providerId="ADAL" clId="{62E9B5AE-779D-4001-92D3-8FF830A8A9C1}" dt="2025-11-12T17:49:13.273" v="217" actId="403"/>
        <pc:sldMkLst>
          <pc:docMk/>
          <pc:sldMk cId="1609763764" sldId="521"/>
        </pc:sldMkLst>
        <pc:spChg chg="mod">
          <ac:chgData name="Pramod Naik" userId="ceb6df04-ef15-4d9b-a141-998a03559d75" providerId="ADAL" clId="{62E9B5AE-779D-4001-92D3-8FF830A8A9C1}" dt="2025-11-12T17:49:13.273" v="217" actId="403"/>
          <ac:spMkLst>
            <pc:docMk/>
            <pc:sldMk cId="1609763764" sldId="521"/>
            <ac:spMk id="3" creationId="{FF825371-62D4-E5FE-2A67-AC368A38F1BD}"/>
          </ac:spMkLst>
        </pc:spChg>
        <pc:picChg chg="add mod">
          <ac:chgData name="Pramod Naik" userId="ceb6df04-ef15-4d9b-a141-998a03559d75" providerId="ADAL" clId="{62E9B5AE-779D-4001-92D3-8FF830A8A9C1}" dt="2025-11-12T17:49:10.335" v="216" actId="1076"/>
          <ac:picMkLst>
            <pc:docMk/>
            <pc:sldMk cId="1609763764" sldId="521"/>
            <ac:picMk id="5" creationId="{B6D131BE-FD71-8C8E-A1B3-C035777DBD99}"/>
          </ac:picMkLst>
        </pc:picChg>
      </pc:sldChg>
      <pc:sldChg chg="add">
        <pc:chgData name="Pramod Naik" userId="ceb6df04-ef15-4d9b-a141-998a03559d75" providerId="ADAL" clId="{62E9B5AE-779D-4001-92D3-8FF830A8A9C1}" dt="2025-11-26T19:35:04.219" v="218"/>
        <pc:sldMkLst>
          <pc:docMk/>
          <pc:sldMk cId="2350706493" sldId="522"/>
        </pc:sldMkLst>
      </pc:sldChg>
      <pc:sldChg chg="addSp delSp modSp add mod">
        <pc:chgData name="Pramod Naik" userId="ceb6df04-ef15-4d9b-a141-998a03559d75" providerId="ADAL" clId="{62E9B5AE-779D-4001-92D3-8FF830A8A9C1}" dt="2025-11-26T19:41:12.076" v="268" actId="12"/>
        <pc:sldMkLst>
          <pc:docMk/>
          <pc:sldMk cId="2147554994" sldId="523"/>
        </pc:sldMkLst>
        <pc:spChg chg="mod">
          <ac:chgData name="Pramod Naik" userId="ceb6df04-ef15-4d9b-a141-998a03559d75" providerId="ADAL" clId="{62E9B5AE-779D-4001-92D3-8FF830A8A9C1}" dt="2025-11-26T19:41:12.076" v="268" actId="12"/>
          <ac:spMkLst>
            <pc:docMk/>
            <pc:sldMk cId="2147554994" sldId="523"/>
            <ac:spMk id="3" creationId="{C3ADC201-F9EC-B490-AE30-DB2AF5B8AFFC}"/>
          </ac:spMkLst>
        </pc:spChg>
        <pc:graphicFrameChg chg="add mod modGraphic">
          <ac:chgData name="Pramod Naik" userId="ceb6df04-ef15-4d9b-a141-998a03559d75" providerId="ADAL" clId="{62E9B5AE-779D-4001-92D3-8FF830A8A9C1}" dt="2025-11-26T19:40:01.512" v="253" actId="1076"/>
          <ac:graphicFrameMkLst>
            <pc:docMk/>
            <pc:sldMk cId="2147554994" sldId="523"/>
            <ac:graphicFrameMk id="2" creationId="{D440493D-7B73-F2DC-80F1-8791089B5021}"/>
          </ac:graphicFrameMkLst>
        </pc:graphicFrameChg>
      </pc:sldChg>
      <pc:sldChg chg="addSp modSp add mod">
        <pc:chgData name="Pramod Naik" userId="ceb6df04-ef15-4d9b-a141-998a03559d75" providerId="ADAL" clId="{62E9B5AE-779D-4001-92D3-8FF830A8A9C1}" dt="2025-11-26T19:44:41.679" v="358" actId="207"/>
        <pc:sldMkLst>
          <pc:docMk/>
          <pc:sldMk cId="2001427130" sldId="524"/>
        </pc:sldMkLst>
        <pc:spChg chg="mod">
          <ac:chgData name="Pramod Naik" userId="ceb6df04-ef15-4d9b-a141-998a03559d75" providerId="ADAL" clId="{62E9B5AE-779D-4001-92D3-8FF830A8A9C1}" dt="2025-11-26T19:44:41.679" v="358" actId="207"/>
          <ac:spMkLst>
            <pc:docMk/>
            <pc:sldMk cId="2001427130" sldId="524"/>
            <ac:spMk id="3" creationId="{CA4A09BB-B4CE-D1C0-E044-7558B2B86BD8}"/>
          </ac:spMkLst>
        </pc:spChg>
        <pc:graphicFrameChg chg="add mod modGraphic">
          <ac:chgData name="Pramod Naik" userId="ceb6df04-ef15-4d9b-a141-998a03559d75" providerId="ADAL" clId="{62E9B5AE-779D-4001-92D3-8FF830A8A9C1}" dt="2025-11-26T19:44:32.719" v="357" actId="20577"/>
          <ac:graphicFrameMkLst>
            <pc:docMk/>
            <pc:sldMk cId="2001427130" sldId="524"/>
            <ac:graphicFrameMk id="2" creationId="{C43A4964-5BE4-3000-767B-3936F392E456}"/>
          </ac:graphicFrameMkLst>
        </pc:graphicFrameChg>
      </pc:sldChg>
      <pc:sldChg chg="addSp modSp add mod">
        <pc:chgData name="Pramod Naik" userId="ceb6df04-ef15-4d9b-a141-998a03559d75" providerId="ADAL" clId="{62E9B5AE-779D-4001-92D3-8FF830A8A9C1}" dt="2025-11-26T19:46:17.035" v="376" actId="14734"/>
        <pc:sldMkLst>
          <pc:docMk/>
          <pc:sldMk cId="3891866407" sldId="525"/>
        </pc:sldMkLst>
        <pc:spChg chg="mod">
          <ac:chgData name="Pramod Naik" userId="ceb6df04-ef15-4d9b-a141-998a03559d75" providerId="ADAL" clId="{62E9B5AE-779D-4001-92D3-8FF830A8A9C1}" dt="2025-11-26T19:46:00.349" v="365" actId="403"/>
          <ac:spMkLst>
            <pc:docMk/>
            <pc:sldMk cId="3891866407" sldId="525"/>
            <ac:spMk id="3" creationId="{69C8A5F8-41C9-4262-631D-3FD5BAA335E8}"/>
          </ac:spMkLst>
        </pc:spChg>
        <pc:graphicFrameChg chg="add mod modGraphic">
          <ac:chgData name="Pramod Naik" userId="ceb6df04-ef15-4d9b-a141-998a03559d75" providerId="ADAL" clId="{62E9B5AE-779D-4001-92D3-8FF830A8A9C1}" dt="2025-11-26T19:46:17.035" v="376" actId="14734"/>
          <ac:graphicFrameMkLst>
            <pc:docMk/>
            <pc:sldMk cId="3891866407" sldId="525"/>
            <ac:graphicFrameMk id="2" creationId="{7E516ACE-B7C9-4CC3-4F98-BA19F20166A6}"/>
          </ac:graphicFrameMkLst>
        </pc:graphicFrameChg>
      </pc:sldChg>
      <pc:sldChg chg="add">
        <pc:chgData name="Pramod Naik" userId="ceb6df04-ef15-4d9b-a141-998a03559d75" providerId="ADAL" clId="{62E9B5AE-779D-4001-92D3-8FF830A8A9C1}" dt="2025-11-26T19:35:59.444" v="237"/>
        <pc:sldMkLst>
          <pc:docMk/>
          <pc:sldMk cId="3927394895" sldId="526"/>
        </pc:sldMkLst>
      </pc:sldChg>
      <pc:sldChg chg="addSp delSp modSp new mod">
        <pc:chgData name="Pramod Naik" userId="ceb6df04-ef15-4d9b-a141-998a03559d75" providerId="ADAL" clId="{62E9B5AE-779D-4001-92D3-8FF830A8A9C1}" dt="2025-11-28T18:10:39.013" v="403" actId="14734"/>
        <pc:sldMkLst>
          <pc:docMk/>
          <pc:sldMk cId="1306837645" sldId="528"/>
        </pc:sldMkLst>
        <pc:spChg chg="del">
          <ac:chgData name="Pramod Naik" userId="ceb6df04-ef15-4d9b-a141-998a03559d75" providerId="ADAL" clId="{62E9B5AE-779D-4001-92D3-8FF830A8A9C1}" dt="2025-11-28T18:08:32.164" v="379" actId="478"/>
          <ac:spMkLst>
            <pc:docMk/>
            <pc:sldMk cId="1306837645" sldId="528"/>
            <ac:spMk id="2" creationId="{E2F892CC-27DA-5FB0-EC7B-B3C412762839}"/>
          </ac:spMkLst>
        </pc:spChg>
        <pc:spChg chg="mod">
          <ac:chgData name="Pramod Naik" userId="ceb6df04-ef15-4d9b-a141-998a03559d75" providerId="ADAL" clId="{62E9B5AE-779D-4001-92D3-8FF830A8A9C1}" dt="2025-11-28T18:10:21.388" v="396" actId="14100"/>
          <ac:spMkLst>
            <pc:docMk/>
            <pc:sldMk cId="1306837645" sldId="528"/>
            <ac:spMk id="3" creationId="{C499B44F-81D6-BA8D-4D29-16FE244A663B}"/>
          </ac:spMkLst>
        </pc:spChg>
        <pc:graphicFrameChg chg="add mod modGraphic">
          <ac:chgData name="Pramod Naik" userId="ceb6df04-ef15-4d9b-a141-998a03559d75" providerId="ADAL" clId="{62E9B5AE-779D-4001-92D3-8FF830A8A9C1}" dt="2025-11-28T18:10:39.013" v="403" actId="14734"/>
          <ac:graphicFrameMkLst>
            <pc:docMk/>
            <pc:sldMk cId="1306837645" sldId="528"/>
            <ac:graphicFrameMk id="4" creationId="{824AB1B3-2C08-4195-436C-E4B3E5BFC764}"/>
          </ac:graphicFrameMkLst>
        </pc:graphicFrameChg>
      </pc:sldChg>
      <pc:sldChg chg="add">
        <pc:chgData name="Pramod Naik" userId="ceb6df04-ef15-4d9b-a141-998a03559d75" providerId="ADAL" clId="{62E9B5AE-779D-4001-92D3-8FF830A8A9C1}" dt="2025-11-28T18:10:44.797" v="404"/>
        <pc:sldMkLst>
          <pc:docMk/>
          <pc:sldMk cId="2168020058" sldId="529"/>
        </pc:sldMkLst>
      </pc:sldChg>
      <pc:sldChg chg="delSp modSp new mod">
        <pc:chgData name="Pramod Naik" userId="ceb6df04-ef15-4d9b-a141-998a03559d75" providerId="ADAL" clId="{62E9B5AE-779D-4001-92D3-8FF830A8A9C1}" dt="2025-11-28T18:16:33.113" v="440" actId="403"/>
        <pc:sldMkLst>
          <pc:docMk/>
          <pc:sldMk cId="254163670" sldId="530"/>
        </pc:sldMkLst>
        <pc:spChg chg="del">
          <ac:chgData name="Pramod Naik" userId="ceb6df04-ef15-4d9b-a141-998a03559d75" providerId="ADAL" clId="{62E9B5AE-779D-4001-92D3-8FF830A8A9C1}" dt="2025-11-28T18:15:23.471" v="420" actId="478"/>
          <ac:spMkLst>
            <pc:docMk/>
            <pc:sldMk cId="254163670" sldId="530"/>
            <ac:spMk id="2" creationId="{60783E50-B1B3-E330-DC89-E9431561133E}"/>
          </ac:spMkLst>
        </pc:spChg>
        <pc:spChg chg="mod">
          <ac:chgData name="Pramod Naik" userId="ceb6df04-ef15-4d9b-a141-998a03559d75" providerId="ADAL" clId="{62E9B5AE-779D-4001-92D3-8FF830A8A9C1}" dt="2025-11-28T18:16:33.113" v="440" actId="403"/>
          <ac:spMkLst>
            <pc:docMk/>
            <pc:sldMk cId="254163670" sldId="530"/>
            <ac:spMk id="3" creationId="{AA904E13-9852-B679-989E-25658277871E}"/>
          </ac:spMkLst>
        </pc:spChg>
      </pc:sldChg>
      <pc:sldChg chg="addSp modSp add mod">
        <pc:chgData name="Pramod Naik" userId="ceb6df04-ef15-4d9b-a141-998a03559d75" providerId="ADAL" clId="{62E9B5AE-779D-4001-92D3-8FF830A8A9C1}" dt="2025-11-28T18:21:12.025" v="452" actId="1076"/>
        <pc:sldMkLst>
          <pc:docMk/>
          <pc:sldMk cId="3512771270" sldId="531"/>
        </pc:sldMkLst>
        <pc:spChg chg="mod">
          <ac:chgData name="Pramod Naik" userId="ceb6df04-ef15-4d9b-a141-998a03559d75" providerId="ADAL" clId="{62E9B5AE-779D-4001-92D3-8FF830A8A9C1}" dt="2025-11-28T18:20:35.428" v="448" actId="403"/>
          <ac:spMkLst>
            <pc:docMk/>
            <pc:sldMk cId="3512771270" sldId="531"/>
            <ac:spMk id="3" creationId="{0EA2D1E7-2EF1-5514-F589-E4597A2708BD}"/>
          </ac:spMkLst>
        </pc:spChg>
        <pc:picChg chg="add mod">
          <ac:chgData name="Pramod Naik" userId="ceb6df04-ef15-4d9b-a141-998a03559d75" providerId="ADAL" clId="{62E9B5AE-779D-4001-92D3-8FF830A8A9C1}" dt="2025-11-28T18:21:12.025" v="452" actId="1076"/>
          <ac:picMkLst>
            <pc:docMk/>
            <pc:sldMk cId="3512771270" sldId="531"/>
            <ac:picMk id="4" creationId="{77423CB5-FF2A-5ECD-E5C6-E685701CA746}"/>
          </ac:picMkLst>
        </pc:picChg>
      </pc:sldChg>
      <pc:sldChg chg="add ord">
        <pc:chgData name="Pramod Naik" userId="ceb6df04-ef15-4d9b-a141-998a03559d75" providerId="ADAL" clId="{62E9B5AE-779D-4001-92D3-8FF830A8A9C1}" dt="2025-11-28T18:21:16.136" v="454"/>
        <pc:sldMkLst>
          <pc:docMk/>
          <pc:sldMk cId="4112291260" sldId="532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532AF1-4615-4667-912A-829B12F8C4D2}" type="datetimeFigureOut">
              <a:rPr lang="en-IN" smtClean="0"/>
              <a:t>28-11-2025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38A8E6-D4B7-4286-B37C-5D755B8E2C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964858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058BF-C5E1-4B52-BD8A-FD1AD57793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CD51F7-3CC3-4BB7-8291-B1789482E8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20447-D6C7-43E1-AE88-1FB66CC9C5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3A76A3-ADC8-4477-8FC1-B9DD55D84908}" type="datetime1">
              <a:rPr lang="en-US" smtClean="0"/>
              <a:t>11/28/2025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5E17B6-E7FC-473A-8D5F-0E6B838EA7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4AF4E0-FDDB-42B9-862C-7BBC501CD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55230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736C8-0B4F-4655-A630-0B1D2540B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78B888-85E0-4D92-903E-C3FE7E870D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648916-250B-4232-BD7D-571FDE79F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F49BE-398D-479A-8A7E-5DDBCA61EDCB}" type="datetime1">
              <a:rPr lang="en-US" smtClean="0"/>
              <a:t>11/28/2025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A8BFB4-647C-4104-B6D4-3346051C36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0FA73F-2BE8-4370-AE90-58F4CE51F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20270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B1446D-9FAC-4157-A41A-51675C8BE9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1709738"/>
            <a:ext cx="10570210" cy="2758895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AF8D4A-8F93-4399-9546-64F286400D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7240" y="4589463"/>
            <a:ext cx="1057021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9C2FD4-BF96-470C-8247-20DFAE1CF8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D0C193-4974-4A1F-9C63-07D595E30D66}" type="datetime1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175A2D-86C4-4467-BAB8-E9ED004D2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442A4D-D9B2-4C82-95E4-B86F9F5F3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4748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6B3AA-8C30-429E-B934-AF1220438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15834E-691F-4728-88F5-A0C4696695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77240" y="1825625"/>
            <a:ext cx="524256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876374-880F-4E25-9F88-79E3C1AB1F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19BD69-B509-4FCE-95A8-ED03FFC8CC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AA87F-28D4-4BF0-B81F-877A89DFD5AC}" type="datetime1">
              <a:rPr lang="en-US" smtClean="0"/>
              <a:t>11/28/2025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7C287B-AE5B-490B-BF81-A50D7A2E8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3C2246-303C-4A29-B6EA-E62CEDE6C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6027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2FE79-D5BE-43E8-B6C5-2675B7F4D8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125"/>
            <a:ext cx="10578148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9D3A07-BA51-4113-902E-830A887D23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7240" y="1801812"/>
            <a:ext cx="5220335" cy="9350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E320A9-E274-4E1B-B02D-9A3F510A1F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77240" y="2825749"/>
            <a:ext cx="5220335" cy="33639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BE80D3A-C2A8-4B78-B7E2-4908C74B1C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01812"/>
            <a:ext cx="5183188" cy="9350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C5D84DD-9460-4B08-86AD-27486A9400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825749"/>
            <a:ext cx="5183188" cy="33639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4B0B7F8-282C-4210-AE7D-F35228BAC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A9F1F3-208B-49A3-B337-9C8ACEB3E0E1}" type="datetime1">
              <a:rPr lang="en-US" smtClean="0"/>
              <a:t>11/28/2025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E343A9-1067-4DCF-BACC-1F7F380502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F84E471-04DB-4DB5-8CC5-16B3FC885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1558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D87C0-272E-4E50-A316-78079B2B92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125"/>
            <a:ext cx="1065911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06C1C9-1F69-432A-858C-D828B56E16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F6CA6-7293-4AA2-A0E0-A3BF4416E786}" type="datetime1">
              <a:rPr lang="en-US" smtClean="0"/>
              <a:t>11/28/2025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6D9A1B-D149-4B97-B161-3D7C9ADBCF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B3722F-8C88-4E54-8CD6-12D31A05F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97842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0E1B4EE-6DFC-45F3-9174-D913EB57CB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D87016-7BCD-46FB-8EE3-AB6C369108B4}" type="datetime1">
              <a:rPr lang="en-US" smtClean="0"/>
              <a:t>11/28/2025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7F7DC-6DDE-4337-AD27-BBE7D54224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C58EA9-3AC4-421E-B133-1FA7757DF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22627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035BB-74CC-43E9-B71F-A5C05D17E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457200"/>
            <a:ext cx="3994785" cy="2501900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AADC9E-7845-4DB1-87E3-6FBFB2B03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457201"/>
            <a:ext cx="6172200" cy="540385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C925A8-2A07-43B9-B549-061F368498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77240" y="3092450"/>
            <a:ext cx="3994785" cy="2776537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1A9037-0564-43A1-8156-1D9932E1F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47011-1FFC-4EF8-9A2E-53B4AD2ADBD4}" type="datetime1">
              <a:rPr lang="en-US" smtClean="0"/>
              <a:t>11/28/2025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FF0D40-D0E1-49C9-BE47-91BBC50AB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D129BD-890D-412E-9805-D29F4A0D3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95230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8ADB4-BA7B-42C2-9C6C-58B2763F86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457200"/>
            <a:ext cx="3994785" cy="2505456"/>
          </a:xfrm>
        </p:spPr>
        <p:txBody>
          <a:bodyPr anchor="b"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9519B58-B546-4E6B-BE00-3D1D64DA86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457201"/>
            <a:ext cx="6172200" cy="54038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AA0AB8-41A9-4548-9B83-3EFF79A007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77240" y="3081275"/>
            <a:ext cx="3994785" cy="2779776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BB33ED-A015-4992-A004-33D41CFFAD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62EB47-45B4-4EF5-A743-B4885DD2F060}" type="datetime1">
              <a:rPr lang="en-US" smtClean="0"/>
              <a:t>11/28/2025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C29CDA-E85F-47D1-83B7-02A50DEBFD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49625F-5352-4136-8AC4-F8899D00A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13301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E922F-6166-4009-A42D-027DC71807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7791CF-167D-446D-9F99-6976C986E2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3CA422-E040-4DE1-9DA5-C8D37C116A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762538-DC4D-4667-96E5-B3278DDF8B12}" type="datetime1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813B0B-60E7-494E-91CB-055BC26906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48C554-7C1B-4D8F-9B6B-044926569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00357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C66EF0-6ED8-49A7-BDAD-E20A143FAE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0FCE9CD-90A9-44BA-B293-0662E077DD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57DAE0-05C4-460B-B96D-BD183ED030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80548-5C08-4BE3-B63E-F2BB63B0B00C}" type="datetime1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B3CA93-55C9-4AA3-89A0-55490F745B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BFD820-FF26-4325-816F-310C30F80A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85991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99B5B3C5-A599-465B-B2B9-866E8B2087CE}"/>
              </a:ext>
            </a:extLst>
          </p:cNvPr>
          <p:cNvSpPr/>
          <p:nvPr/>
        </p:nvSpPr>
        <p:spPr>
          <a:xfrm>
            <a:off x="-1" y="-1"/>
            <a:ext cx="12192001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25C84982-7DD0-43B1-8A2D-BFA4DF1B4E60}"/>
              </a:ext>
            </a:extLst>
          </p:cNvPr>
          <p:cNvSpPr/>
          <p:nvPr/>
        </p:nvSpPr>
        <p:spPr>
          <a:xfrm>
            <a:off x="-1" y="-1"/>
            <a:ext cx="12192001" cy="685800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bg1"/>
              </a:solidFill>
              <a:latin typeface="+mj-lt"/>
            </a:endParaRPr>
          </a:p>
        </p:txBody>
      </p:sp>
      <p:grpSp>
        <p:nvGrpSpPr>
          <p:cNvPr id="8" name="Decorative Circles">
            <a:extLst>
              <a:ext uri="{FF2B5EF4-FFF2-40B4-BE49-F238E27FC236}">
                <a16:creationId xmlns:a16="http://schemas.microsoft.com/office/drawing/2014/main" id="{1D912E1C-3BBA-42F0-A3EE-FEC382E7230A}"/>
              </a:ext>
            </a:extLst>
          </p:cNvPr>
          <p:cNvGrpSpPr/>
          <p:nvPr/>
        </p:nvGrpSpPr>
        <p:grpSpPr>
          <a:xfrm>
            <a:off x="-1" y="-1"/>
            <a:ext cx="12192001" cy="6858001"/>
            <a:chOff x="-1" y="-1"/>
            <a:chExt cx="12192001" cy="6858001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2FEEAC76-E273-46A8-8F8E-CE59860FE70D}"/>
                </a:ext>
              </a:extLst>
            </p:cNvPr>
            <p:cNvSpPr/>
            <p:nvPr/>
          </p:nvSpPr>
          <p:spPr>
            <a:xfrm>
              <a:off x="209098" y="727602"/>
              <a:ext cx="172408" cy="172408"/>
            </a:xfrm>
            <a:prstGeom prst="ellipse">
              <a:avLst/>
            </a:prstGeom>
            <a:solidFill>
              <a:schemeClr val="accent2">
                <a:lumMod val="40000"/>
                <a:lumOff val="6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76594A0E-9400-45AD-A431-1DA1C0B28966}"/>
                </a:ext>
              </a:extLst>
            </p:cNvPr>
            <p:cNvSpPr/>
            <p:nvPr/>
          </p:nvSpPr>
          <p:spPr>
            <a:xfrm>
              <a:off x="949947" y="136523"/>
              <a:ext cx="113367" cy="113367"/>
            </a:xfrm>
            <a:prstGeom prst="ellipse">
              <a:avLst/>
            </a:prstGeom>
            <a:solidFill>
              <a:srgbClr val="F39E29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0916D6C-D32F-42B6-8512-CD5EDB8F2B9B}"/>
                </a:ext>
              </a:extLst>
            </p:cNvPr>
            <p:cNvSpPr/>
            <p:nvPr/>
          </p:nvSpPr>
          <p:spPr>
            <a:xfrm>
              <a:off x="11575290" y="5859047"/>
              <a:ext cx="305780" cy="305780"/>
            </a:xfrm>
            <a:prstGeom prst="ellipse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834846D-59C6-40F4-907C-F1A4689B58F1}"/>
                </a:ext>
              </a:extLst>
            </p:cNvPr>
            <p:cNvSpPr/>
            <p:nvPr/>
          </p:nvSpPr>
          <p:spPr>
            <a:xfrm>
              <a:off x="95730" y="1133938"/>
              <a:ext cx="226735" cy="226735"/>
            </a:xfrm>
            <a:prstGeom prst="ellipse">
              <a:avLst/>
            </a:prstGeom>
            <a:solidFill>
              <a:schemeClr val="accent3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5A257CDF-2E36-4DC7-8EE4-5CD8F8ECAC87}"/>
                </a:ext>
              </a:extLst>
            </p:cNvPr>
            <p:cNvSpPr/>
            <p:nvPr/>
          </p:nvSpPr>
          <p:spPr>
            <a:xfrm>
              <a:off x="11536830" y="554419"/>
              <a:ext cx="382700" cy="382700"/>
            </a:xfrm>
            <a:prstGeom prst="ellipse">
              <a:avLst/>
            </a:prstGeom>
            <a:solidFill>
              <a:schemeClr val="accent2">
                <a:lumMod val="60000"/>
                <a:lumOff val="40000"/>
                <a:alpha val="7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D5B26E0E-A115-4AE2-82D8-76BB93CC494F}"/>
                </a:ext>
              </a:extLst>
            </p:cNvPr>
            <p:cNvSpPr/>
            <p:nvPr/>
          </p:nvSpPr>
          <p:spPr>
            <a:xfrm>
              <a:off x="11224303" y="299808"/>
              <a:ext cx="113367" cy="113367"/>
            </a:xfrm>
            <a:prstGeom prst="ellipse">
              <a:avLst/>
            </a:prstGeom>
            <a:solidFill>
              <a:srgbClr val="F39E2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755058DB-7E01-4E95-BF59-983AA1BBB38E}"/>
                </a:ext>
              </a:extLst>
            </p:cNvPr>
            <p:cNvSpPr/>
            <p:nvPr/>
          </p:nvSpPr>
          <p:spPr>
            <a:xfrm>
              <a:off x="11629630" y="5482355"/>
              <a:ext cx="94160" cy="94160"/>
            </a:xfrm>
            <a:prstGeom prst="ellipse">
              <a:avLst/>
            </a:prstGeom>
            <a:solidFill>
              <a:srgbClr val="E3BEBE">
                <a:alpha val="2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A810F7E2-23F3-44D6-B09E-71E556536052}"/>
                </a:ext>
              </a:extLst>
            </p:cNvPr>
            <p:cNvSpPr/>
            <p:nvPr/>
          </p:nvSpPr>
          <p:spPr>
            <a:xfrm>
              <a:off x="10415328" y="6124958"/>
              <a:ext cx="113367" cy="113367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59D5C391-E1DB-410A-A78C-ED3BBDFF0758}"/>
                </a:ext>
              </a:extLst>
            </p:cNvPr>
            <p:cNvSpPr/>
            <p:nvPr/>
          </p:nvSpPr>
          <p:spPr>
            <a:xfrm>
              <a:off x="10120382" y="6255986"/>
              <a:ext cx="305780" cy="30578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77C4944D-9373-4283-BCAA-927A0316659E}"/>
                </a:ext>
              </a:extLst>
            </p:cNvPr>
            <p:cNvSpPr/>
            <p:nvPr/>
          </p:nvSpPr>
          <p:spPr>
            <a:xfrm>
              <a:off x="9934343" y="6204350"/>
              <a:ext cx="113367" cy="11336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6804C521-2D9F-4CE4-AFD3-D4F1551FEC6A}"/>
                </a:ext>
              </a:extLst>
            </p:cNvPr>
            <p:cNvSpPr/>
            <p:nvPr/>
          </p:nvSpPr>
          <p:spPr>
            <a:xfrm>
              <a:off x="11642244" y="6317718"/>
              <a:ext cx="549756" cy="540282"/>
            </a:xfrm>
            <a:custGeom>
              <a:avLst/>
              <a:gdLst>
                <a:gd name="connsiteX0" fmla="*/ 1224540 w 2115556"/>
                <a:gd name="connsiteY0" fmla="*/ 0 h 2079100"/>
                <a:gd name="connsiteX1" fmla="*/ 2090421 w 2115556"/>
                <a:gd name="connsiteY1" fmla="*/ 358660 h 2079100"/>
                <a:gd name="connsiteX2" fmla="*/ 2115556 w 2115556"/>
                <a:gd name="connsiteY2" fmla="*/ 386315 h 2079100"/>
                <a:gd name="connsiteX3" fmla="*/ 2115556 w 2115556"/>
                <a:gd name="connsiteY3" fmla="*/ 2062765 h 2079100"/>
                <a:gd name="connsiteX4" fmla="*/ 2100710 w 2115556"/>
                <a:gd name="connsiteY4" fmla="*/ 2079100 h 2079100"/>
                <a:gd name="connsiteX5" fmla="*/ 348370 w 2115556"/>
                <a:gd name="connsiteY5" fmla="*/ 2079100 h 2079100"/>
                <a:gd name="connsiteX6" fmla="*/ 279625 w 2115556"/>
                <a:gd name="connsiteY6" fmla="*/ 2003461 h 2079100"/>
                <a:gd name="connsiteX7" fmla="*/ 0 w 2115556"/>
                <a:gd name="connsiteY7" fmla="*/ 1224540 h 2079100"/>
                <a:gd name="connsiteX8" fmla="*/ 1224540 w 2115556"/>
                <a:gd name="connsiteY8" fmla="*/ 0 h 2079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15556" h="2079100">
                  <a:moveTo>
                    <a:pt x="1224540" y="0"/>
                  </a:moveTo>
                  <a:cubicBezTo>
                    <a:pt x="1562687" y="0"/>
                    <a:pt x="1868823" y="137062"/>
                    <a:pt x="2090421" y="358660"/>
                  </a:cubicBezTo>
                  <a:lnTo>
                    <a:pt x="2115556" y="386315"/>
                  </a:lnTo>
                  <a:lnTo>
                    <a:pt x="2115556" y="2062765"/>
                  </a:lnTo>
                  <a:lnTo>
                    <a:pt x="2100710" y="2079100"/>
                  </a:lnTo>
                  <a:lnTo>
                    <a:pt x="348370" y="2079100"/>
                  </a:lnTo>
                  <a:lnTo>
                    <a:pt x="279625" y="2003461"/>
                  </a:lnTo>
                  <a:cubicBezTo>
                    <a:pt x="104938" y="1791789"/>
                    <a:pt x="0" y="1520419"/>
                    <a:pt x="0" y="1224540"/>
                  </a:cubicBezTo>
                  <a:cubicBezTo>
                    <a:pt x="0" y="548245"/>
                    <a:pt x="548245" y="0"/>
                    <a:pt x="1224540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755AC65C-13EF-4182-AA3C-62BE165CC033}"/>
                </a:ext>
              </a:extLst>
            </p:cNvPr>
            <p:cNvSpPr/>
            <p:nvPr/>
          </p:nvSpPr>
          <p:spPr>
            <a:xfrm>
              <a:off x="-1" y="-1"/>
              <a:ext cx="510196" cy="538336"/>
            </a:xfrm>
            <a:custGeom>
              <a:avLst/>
              <a:gdLst>
                <a:gd name="connsiteX0" fmla="*/ 0 w 510196"/>
                <a:gd name="connsiteY0" fmla="*/ 0 h 538336"/>
                <a:gd name="connsiteX1" fmla="*/ 459276 w 510196"/>
                <a:gd name="connsiteY1" fmla="*/ 0 h 538336"/>
                <a:gd name="connsiteX2" fmla="*/ 482126 w 510196"/>
                <a:gd name="connsiteY2" fmla="*/ 42098 h 538336"/>
                <a:gd name="connsiteX3" fmla="*/ 510196 w 510196"/>
                <a:gd name="connsiteY3" fmla="*/ 181136 h 538336"/>
                <a:gd name="connsiteX4" fmla="*/ 152996 w 510196"/>
                <a:gd name="connsiteY4" fmla="*/ 538336 h 538336"/>
                <a:gd name="connsiteX5" fmla="*/ 13958 w 510196"/>
                <a:gd name="connsiteY5" fmla="*/ 510266 h 538336"/>
                <a:gd name="connsiteX6" fmla="*/ 0 w 510196"/>
                <a:gd name="connsiteY6" fmla="*/ 502690 h 538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10196" h="538336">
                  <a:moveTo>
                    <a:pt x="0" y="0"/>
                  </a:moveTo>
                  <a:lnTo>
                    <a:pt x="459276" y="0"/>
                  </a:lnTo>
                  <a:lnTo>
                    <a:pt x="482126" y="42098"/>
                  </a:lnTo>
                  <a:cubicBezTo>
                    <a:pt x="500201" y="84833"/>
                    <a:pt x="510196" y="131817"/>
                    <a:pt x="510196" y="181136"/>
                  </a:cubicBezTo>
                  <a:cubicBezTo>
                    <a:pt x="510196" y="378412"/>
                    <a:pt x="350272" y="538336"/>
                    <a:pt x="152996" y="538336"/>
                  </a:cubicBezTo>
                  <a:cubicBezTo>
                    <a:pt x="103677" y="538336"/>
                    <a:pt x="56693" y="528341"/>
                    <a:pt x="13958" y="510266"/>
                  </a:cubicBezTo>
                  <a:lnTo>
                    <a:pt x="0" y="502690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E40DA8D2-FA4B-4282-9D44-48C27B63A153}"/>
                </a:ext>
              </a:extLst>
            </p:cNvPr>
            <p:cNvSpPr/>
            <p:nvPr/>
          </p:nvSpPr>
          <p:spPr>
            <a:xfrm>
              <a:off x="10528695" y="1"/>
              <a:ext cx="554074" cy="282754"/>
            </a:xfrm>
            <a:custGeom>
              <a:avLst/>
              <a:gdLst>
                <a:gd name="connsiteX0" fmla="*/ 644 w 309162"/>
                <a:gd name="connsiteY0" fmla="*/ 0 h 157771"/>
                <a:gd name="connsiteX1" fmla="*/ 308518 w 309162"/>
                <a:gd name="connsiteY1" fmla="*/ 0 h 157771"/>
                <a:gd name="connsiteX2" fmla="*/ 309162 w 309162"/>
                <a:gd name="connsiteY2" fmla="*/ 3190 h 157771"/>
                <a:gd name="connsiteX3" fmla="*/ 154581 w 309162"/>
                <a:gd name="connsiteY3" fmla="*/ 157771 h 157771"/>
                <a:gd name="connsiteX4" fmla="*/ 0 w 309162"/>
                <a:gd name="connsiteY4" fmla="*/ 3190 h 1577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9162" h="157771">
                  <a:moveTo>
                    <a:pt x="644" y="0"/>
                  </a:moveTo>
                  <a:lnTo>
                    <a:pt x="308518" y="0"/>
                  </a:lnTo>
                  <a:lnTo>
                    <a:pt x="309162" y="3190"/>
                  </a:lnTo>
                  <a:cubicBezTo>
                    <a:pt x="309162" y="88563"/>
                    <a:pt x="239954" y="157771"/>
                    <a:pt x="154581" y="157771"/>
                  </a:cubicBezTo>
                  <a:cubicBezTo>
                    <a:pt x="69208" y="157771"/>
                    <a:pt x="0" y="88563"/>
                    <a:pt x="0" y="3190"/>
                  </a:cubicBezTo>
                  <a:close/>
                </a:path>
              </a:pathLst>
            </a:cu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9065014-CB18-414D-A527-31ECC45700AB}"/>
                </a:ext>
              </a:extLst>
            </p:cNvPr>
            <p:cNvSpPr/>
            <p:nvPr/>
          </p:nvSpPr>
          <p:spPr>
            <a:xfrm>
              <a:off x="504140" y="1132500"/>
              <a:ext cx="84680" cy="846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8F39E27A-56C1-4328-8DF1-2DA147C78483}"/>
                </a:ext>
              </a:extLst>
            </p:cNvPr>
            <p:cNvSpPr/>
            <p:nvPr/>
          </p:nvSpPr>
          <p:spPr>
            <a:xfrm>
              <a:off x="12051348" y="5576515"/>
              <a:ext cx="137603" cy="210490"/>
            </a:xfrm>
            <a:custGeom>
              <a:avLst/>
              <a:gdLst>
                <a:gd name="connsiteX0" fmla="*/ 105245 w 137603"/>
                <a:gd name="connsiteY0" fmla="*/ 0 h 210490"/>
                <a:gd name="connsiteX1" fmla="*/ 137603 w 137603"/>
                <a:gd name="connsiteY1" fmla="*/ 6533 h 210490"/>
                <a:gd name="connsiteX2" fmla="*/ 137603 w 137603"/>
                <a:gd name="connsiteY2" fmla="*/ 203957 h 210490"/>
                <a:gd name="connsiteX3" fmla="*/ 105245 w 137603"/>
                <a:gd name="connsiteY3" fmla="*/ 210490 h 210490"/>
                <a:gd name="connsiteX4" fmla="*/ 0 w 137603"/>
                <a:gd name="connsiteY4" fmla="*/ 105245 h 210490"/>
                <a:gd name="connsiteX5" fmla="*/ 105245 w 137603"/>
                <a:gd name="connsiteY5" fmla="*/ 0 h 210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603" h="210490">
                  <a:moveTo>
                    <a:pt x="105245" y="0"/>
                  </a:moveTo>
                  <a:lnTo>
                    <a:pt x="137603" y="6533"/>
                  </a:lnTo>
                  <a:lnTo>
                    <a:pt x="137603" y="203957"/>
                  </a:lnTo>
                  <a:lnTo>
                    <a:pt x="105245" y="210490"/>
                  </a:lnTo>
                  <a:cubicBezTo>
                    <a:pt x="47120" y="210490"/>
                    <a:pt x="0" y="163370"/>
                    <a:pt x="0" y="105245"/>
                  </a:cubicBezTo>
                  <a:cubicBezTo>
                    <a:pt x="0" y="47120"/>
                    <a:pt x="47120" y="0"/>
                    <a:pt x="105245" y="0"/>
                  </a:cubicBezTo>
                  <a:close/>
                </a:path>
              </a:pathLst>
            </a:cu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2C5EC6-E331-4312-AC12-56D55F7D2B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77240" y="6488268"/>
            <a:ext cx="2743200" cy="2332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8D24A4-5FEC-4062-8995-EB21925B3B40}" type="datetime1">
              <a:rPr lang="en-US" smtClean="0"/>
              <a:t>11/28/2025</a:t>
            </a:fld>
            <a:endParaRPr lang="en-US" sz="100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37FC5D-92B2-4B4D-8111-6EDEF28069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88268"/>
            <a:ext cx="4114800" cy="2332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sz="100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3A104D-C777-4A6E-8A43-F94028E5E3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93150" y="6488268"/>
            <a:ext cx="2743200" cy="2332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747434-7036-48DB-A148-6B3D8EE75CDA}" type="slidenum">
              <a:rPr lang="en-US" smtClean="0"/>
              <a:pPr/>
              <a:t>‹#›</a:t>
            </a:fld>
            <a:endParaRPr lang="en-US" sz="1000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2D3A74F-6169-4D30-A245-B46D738BEA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125"/>
            <a:ext cx="1065911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877E64-7A05-44DA-81FA-6EF4806BBF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7240" y="1825625"/>
            <a:ext cx="1065911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281849D-54CA-C13E-3D84-DB247AB9A268}"/>
              </a:ext>
            </a:extLst>
          </p:cNvPr>
          <p:cNvGrpSpPr/>
          <p:nvPr userDrawn="1"/>
        </p:nvGrpSpPr>
        <p:grpSpPr>
          <a:xfrm>
            <a:off x="130629" y="6291189"/>
            <a:ext cx="2743201" cy="495445"/>
            <a:chOff x="195943" y="6091967"/>
            <a:chExt cx="3506755" cy="629508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6401CC4C-E0EC-38D2-F7AA-61FC22E4D90D}"/>
                </a:ext>
              </a:extLst>
            </p:cNvPr>
            <p:cNvSpPr/>
            <p:nvPr userDrawn="1"/>
          </p:nvSpPr>
          <p:spPr>
            <a:xfrm>
              <a:off x="195943" y="6091967"/>
              <a:ext cx="642257" cy="629508"/>
            </a:xfrm>
            <a:prstGeom prst="ellipse">
              <a:avLst/>
            </a:prstGeom>
            <a:blipFill dpi="0"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875BEBF-DA68-8945-6205-DE7DE602B3BD}"/>
                </a:ext>
              </a:extLst>
            </p:cNvPr>
            <p:cNvSpPr txBox="1"/>
            <p:nvPr userDrawn="1"/>
          </p:nvSpPr>
          <p:spPr>
            <a:xfrm>
              <a:off x="838200" y="6163561"/>
              <a:ext cx="286449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PRAMOD NAIK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027532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03" r:id="rId6"/>
    <p:sldLayoutId id="2147483699" r:id="rId7"/>
    <p:sldLayoutId id="2147483700" r:id="rId8"/>
    <p:sldLayoutId id="2147483701" r:id="rId9"/>
    <p:sldLayoutId id="2147483702" r:id="rId10"/>
    <p:sldLayoutId id="2147483704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2FB284-DAF2-8CB9-9090-285BF2A58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3785" y="2284236"/>
            <a:ext cx="11484429" cy="2289527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IN" sz="5400" b="1" dirty="0">
                <a:latin typeface="+mj-lt"/>
              </a:rPr>
              <a:t>Introduction to C Programming Lab</a:t>
            </a:r>
          </a:p>
        </p:txBody>
      </p:sp>
    </p:spTree>
    <p:extLst>
      <p:ext uri="{BB962C8B-B14F-4D97-AF65-F5344CB8AC3E}">
        <p14:creationId xmlns:p14="http://schemas.microsoft.com/office/powerpoint/2010/main" val="7033842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5BB4A-DEE7-AC39-C7A3-41514D4C9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 descr="A black and white text on a white background&#10;&#10;AI-generated content may be incorrect.">
            <a:extLst>
              <a:ext uri="{FF2B5EF4-FFF2-40B4-BE49-F238E27FC236}">
                <a16:creationId xmlns:a16="http://schemas.microsoft.com/office/drawing/2014/main" id="{5B9C3A19-67B7-C916-E5BF-34B195B1E21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94" r="1658" b="2108"/>
          <a:stretch>
            <a:fillRect/>
          </a:stretch>
        </p:blipFill>
        <p:spPr>
          <a:xfrm>
            <a:off x="1240972" y="364671"/>
            <a:ext cx="9383485" cy="6128657"/>
          </a:xfrm>
        </p:spPr>
      </p:pic>
    </p:spTree>
    <p:extLst>
      <p:ext uri="{BB962C8B-B14F-4D97-AF65-F5344CB8AC3E}">
        <p14:creationId xmlns:p14="http://schemas.microsoft.com/office/powerpoint/2010/main" val="11729311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7CFFD-FC55-DE87-6B45-4F3308622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B46AC9-AEBC-6C3C-F6FA-282C71F36D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816429"/>
            <a:ext cx="10659110" cy="5360534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41122912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AB6D13-0CF5-ABC5-146A-546F935F5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A9A654-5603-C7C9-966E-753272CC1F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5716" y="1697044"/>
            <a:ext cx="10900568" cy="3712237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IN" sz="6000" b="1" dirty="0">
                <a:latin typeface="+mj-lt"/>
              </a:rPr>
              <a:t>Program-9: </a:t>
            </a:r>
            <a:r>
              <a:rPr lang="en-US" sz="6000" b="1" dirty="0">
                <a:latin typeface="+mj-lt"/>
              </a:rPr>
              <a:t>Develop a modular program to find </a:t>
            </a:r>
            <a:r>
              <a:rPr lang="en-US" sz="6000" b="1" dirty="0">
                <a:solidFill>
                  <a:srgbClr val="C00000"/>
                </a:solidFill>
                <a:latin typeface="+mj-lt"/>
              </a:rPr>
              <a:t>GCD</a:t>
            </a:r>
            <a:r>
              <a:rPr lang="en-US" sz="6000" b="1" dirty="0">
                <a:latin typeface="+mj-lt"/>
              </a:rPr>
              <a:t> and </a:t>
            </a:r>
            <a:r>
              <a:rPr lang="en-US" sz="6000" b="1" dirty="0">
                <a:solidFill>
                  <a:srgbClr val="C00000"/>
                </a:solidFill>
                <a:latin typeface="+mj-lt"/>
              </a:rPr>
              <a:t>LCM</a:t>
            </a:r>
            <a:r>
              <a:rPr lang="en-US" sz="6000" b="1" dirty="0">
                <a:latin typeface="+mj-lt"/>
              </a:rPr>
              <a:t> of given numbers</a:t>
            </a:r>
            <a:endParaRPr lang="en-IN" sz="6000" b="1" dirty="0">
              <a:solidFill>
                <a:schemeClr val="tx2">
                  <a:lumMod val="75000"/>
                  <a:lumOff val="2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9003957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904E13-9852-B679-989E-2565827787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816429"/>
            <a:ext cx="10659110" cy="53605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What is GCD?</a:t>
            </a:r>
          </a:p>
          <a:p>
            <a:r>
              <a:rPr lang="en-US" sz="2800" b="1" dirty="0"/>
              <a:t>GCD (Greatest Common Divisor)</a:t>
            </a:r>
            <a:br>
              <a:rPr lang="en-US" sz="2800" dirty="0"/>
            </a:br>
            <a:r>
              <a:rPr lang="en-US" sz="2800" dirty="0"/>
              <a:t>→ It is the </a:t>
            </a:r>
            <a:r>
              <a:rPr lang="en-US" sz="2800" b="1" dirty="0"/>
              <a:t>largest number</a:t>
            </a:r>
            <a:r>
              <a:rPr lang="en-US" sz="2800" dirty="0"/>
              <a:t> that can </a:t>
            </a:r>
            <a:r>
              <a:rPr lang="en-US" sz="2800" b="1" dirty="0">
                <a:solidFill>
                  <a:srgbClr val="C00000"/>
                </a:solidFill>
              </a:rPr>
              <a:t>divide both numbers exactly </a:t>
            </a:r>
            <a:r>
              <a:rPr lang="en-US" sz="2800" dirty="0"/>
              <a:t>(without remainder).</a:t>
            </a:r>
          </a:p>
          <a:p>
            <a:r>
              <a:rPr lang="en-US" sz="2800" b="1" dirty="0"/>
              <a:t>Example</a:t>
            </a:r>
          </a:p>
          <a:p>
            <a:pPr lvl="1"/>
            <a:r>
              <a:rPr lang="en-US" sz="2800" dirty="0"/>
              <a:t>Find GCD of </a:t>
            </a:r>
            <a:r>
              <a:rPr lang="en-US" sz="2800" b="1" dirty="0"/>
              <a:t>12</a:t>
            </a:r>
            <a:r>
              <a:rPr lang="en-US" sz="2800" dirty="0"/>
              <a:t> and </a:t>
            </a:r>
            <a:r>
              <a:rPr lang="en-US" sz="2800" b="1" dirty="0"/>
              <a:t>18</a:t>
            </a:r>
            <a:endParaRPr lang="en-US" sz="2800" dirty="0"/>
          </a:p>
          <a:p>
            <a:pPr lvl="2"/>
            <a:r>
              <a:rPr lang="en-US" sz="2800" dirty="0"/>
              <a:t>Divisors of 12 → 1, 2, 3, 4, 6, 12</a:t>
            </a:r>
          </a:p>
          <a:p>
            <a:pPr lvl="2"/>
            <a:r>
              <a:rPr lang="en-US" sz="2800" dirty="0"/>
              <a:t>Divisors of 18 → 1, 2, 3, 6, 9, 18</a:t>
            </a:r>
          </a:p>
          <a:p>
            <a:pPr lvl="1"/>
            <a:r>
              <a:rPr lang="en-US" sz="2800" dirty="0"/>
              <a:t>Common divisors → </a:t>
            </a:r>
            <a:r>
              <a:rPr lang="en-US" sz="2800" b="1" dirty="0"/>
              <a:t>1, 2, 3, 6</a:t>
            </a:r>
            <a:endParaRPr lang="en-US" sz="2800" dirty="0"/>
          </a:p>
          <a:p>
            <a:pPr lvl="1"/>
            <a:r>
              <a:rPr lang="en-US" sz="2800" dirty="0"/>
              <a:t>Among these, the </a:t>
            </a:r>
            <a:r>
              <a:rPr lang="en-US" sz="2800" b="1" dirty="0"/>
              <a:t>greatest</a:t>
            </a:r>
            <a:r>
              <a:rPr lang="en-US" sz="2800" dirty="0"/>
              <a:t> is:</a:t>
            </a:r>
            <a:br>
              <a:rPr lang="en-US" sz="2800" dirty="0"/>
            </a:br>
            <a:r>
              <a:rPr lang="en-US" sz="2800" dirty="0"/>
              <a:t>👉 </a:t>
            </a:r>
            <a:r>
              <a:rPr lang="en-US" sz="2800" b="1" dirty="0"/>
              <a:t>GCD = 6</a:t>
            </a:r>
            <a:endParaRPr lang="en-US" sz="2800" dirty="0"/>
          </a:p>
          <a:p>
            <a:pPr marL="0" indent="0">
              <a:buNone/>
            </a:pP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2541636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618C38-EB34-6842-16BB-F955F2D03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A2D1E7-2EF1-5514-F589-E4597A2708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816429"/>
            <a:ext cx="10659110" cy="53605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What is LCM?</a:t>
            </a:r>
          </a:p>
          <a:p>
            <a:r>
              <a:rPr lang="en-US" sz="2800" b="1" dirty="0"/>
              <a:t>LCM (Least Common Multiple)</a:t>
            </a:r>
            <a:br>
              <a:rPr lang="en-US" sz="2800" dirty="0"/>
            </a:br>
            <a:r>
              <a:rPr lang="en-US" sz="2800" dirty="0"/>
              <a:t>→ It is the </a:t>
            </a:r>
            <a:r>
              <a:rPr lang="en-US" sz="2800" b="1" dirty="0"/>
              <a:t>smallest number</a:t>
            </a:r>
            <a:r>
              <a:rPr lang="en-US" sz="2800" dirty="0"/>
              <a:t> that both numbers can divide exactly.</a:t>
            </a:r>
          </a:p>
          <a:p>
            <a:r>
              <a:rPr lang="en-US" sz="2800" b="1" dirty="0"/>
              <a:t>Example</a:t>
            </a:r>
          </a:p>
          <a:p>
            <a:pPr lvl="1"/>
            <a:r>
              <a:rPr lang="en-US" sz="2800" dirty="0"/>
              <a:t>Find LCM of </a:t>
            </a:r>
            <a:r>
              <a:rPr lang="en-US" sz="2800" b="1" dirty="0"/>
              <a:t>12</a:t>
            </a:r>
            <a:r>
              <a:rPr lang="en-US" sz="2800" dirty="0"/>
              <a:t> and </a:t>
            </a:r>
            <a:r>
              <a:rPr lang="en-US" sz="2800" b="1" dirty="0"/>
              <a:t>18</a:t>
            </a:r>
            <a:endParaRPr lang="en-US" sz="2800" dirty="0"/>
          </a:p>
          <a:p>
            <a:pPr lvl="2"/>
            <a:r>
              <a:rPr lang="en-US" sz="2800" dirty="0"/>
              <a:t>Multiples of 12 → 12, 24, </a:t>
            </a:r>
            <a:r>
              <a:rPr lang="en-US" sz="2800" b="1" dirty="0"/>
              <a:t>36</a:t>
            </a:r>
            <a:r>
              <a:rPr lang="en-US" sz="2800" dirty="0"/>
              <a:t>, 48, 60, 72…</a:t>
            </a:r>
            <a:br>
              <a:rPr lang="en-US" sz="2800" dirty="0"/>
            </a:br>
            <a:r>
              <a:rPr lang="en-US" sz="2800" dirty="0"/>
              <a:t>Multiples of 18 → 18, </a:t>
            </a:r>
            <a:r>
              <a:rPr lang="en-US" sz="2800" b="1" dirty="0"/>
              <a:t>36</a:t>
            </a:r>
            <a:r>
              <a:rPr lang="en-US" sz="2800" dirty="0"/>
              <a:t>, 54, 72…</a:t>
            </a:r>
          </a:p>
          <a:p>
            <a:pPr lvl="2"/>
            <a:r>
              <a:rPr lang="en-US" sz="2800" dirty="0"/>
              <a:t>Common multiples → 36, 72…</a:t>
            </a:r>
          </a:p>
          <a:p>
            <a:pPr lvl="1"/>
            <a:r>
              <a:rPr lang="en-US" sz="2800" dirty="0"/>
              <a:t>Smallest common multiple:</a:t>
            </a:r>
            <a:br>
              <a:rPr lang="en-US" sz="2800" dirty="0"/>
            </a:br>
            <a:r>
              <a:rPr lang="en-US" sz="2800" dirty="0"/>
              <a:t>👉 </a:t>
            </a:r>
            <a:r>
              <a:rPr lang="en-US" sz="2800" b="1" dirty="0"/>
              <a:t>LCM = 36</a:t>
            </a:r>
            <a:endParaRPr lang="en-US" sz="2800" dirty="0"/>
          </a:p>
          <a:p>
            <a:pPr marL="0" indent="0">
              <a:buNone/>
            </a:pPr>
            <a:endParaRPr lang="en-IN" sz="2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7423CB5-FF2A-5ECD-E5C6-E685701CA7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3045" y="4612830"/>
            <a:ext cx="5211715" cy="1564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27712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177EF6-D485-E548-041D-3F0961B92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034BDB-AD2A-4ED0-A170-A619A001CC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5716" y="1697044"/>
            <a:ext cx="10900568" cy="3712237"/>
          </a:xfrm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IN" sz="6000" b="1" dirty="0">
                <a:latin typeface="+mj-lt"/>
              </a:rPr>
              <a:t>Program-8: </a:t>
            </a:r>
            <a:r>
              <a:rPr lang="en-US" sz="6100" b="1" dirty="0">
                <a:latin typeface="+mj-lt"/>
              </a:rPr>
              <a:t>Develop a Program to </a:t>
            </a:r>
            <a:r>
              <a:rPr lang="en-US" sz="6100" b="1" dirty="0">
                <a:solidFill>
                  <a:srgbClr val="C00000"/>
                </a:solidFill>
                <a:latin typeface="+mj-lt"/>
              </a:rPr>
              <a:t>concatenate</a:t>
            </a:r>
            <a:r>
              <a:rPr lang="en-US" sz="6100" b="1" dirty="0">
                <a:latin typeface="+mj-lt"/>
              </a:rPr>
              <a:t> two strings, find </a:t>
            </a:r>
            <a:r>
              <a:rPr lang="en-US" sz="6100" b="1" dirty="0">
                <a:solidFill>
                  <a:srgbClr val="C00000"/>
                </a:solidFill>
                <a:latin typeface="+mj-lt"/>
              </a:rPr>
              <a:t>length</a:t>
            </a:r>
            <a:r>
              <a:rPr lang="en-US" sz="6100" b="1" dirty="0">
                <a:latin typeface="+mj-lt"/>
              </a:rPr>
              <a:t> of a string and </a:t>
            </a:r>
            <a:r>
              <a:rPr lang="en-US" sz="6100" b="1" dirty="0">
                <a:solidFill>
                  <a:srgbClr val="C00000"/>
                </a:solidFill>
                <a:latin typeface="+mj-lt"/>
              </a:rPr>
              <a:t>copy</a:t>
            </a:r>
            <a:r>
              <a:rPr lang="en-US" sz="6100" b="1" dirty="0">
                <a:latin typeface="+mj-lt"/>
              </a:rPr>
              <a:t> one string to other using </a:t>
            </a:r>
            <a:r>
              <a:rPr lang="en-US" sz="61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+mj-lt"/>
              </a:rPr>
              <a:t>string operations</a:t>
            </a:r>
            <a:r>
              <a:rPr lang="en-US" sz="60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+mj-lt"/>
              </a:rPr>
              <a:t>.</a:t>
            </a:r>
            <a:endParaRPr lang="en-IN" sz="6000" b="1" dirty="0">
              <a:solidFill>
                <a:schemeClr val="tx2">
                  <a:lumMod val="75000"/>
                  <a:lumOff val="2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1680200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99B44F-81D6-BA8D-4D29-16FE244A66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0743" y="348343"/>
            <a:ext cx="10924812" cy="56979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String Functions — Syntax &amp; Examples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24AB1B3-2C08-4195-436C-E4B3E5BFC7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8936730"/>
              </p:ext>
            </p:extLst>
          </p:nvPr>
        </p:nvGraphicFramePr>
        <p:xfrm>
          <a:off x="500743" y="811665"/>
          <a:ext cx="11277599" cy="546014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858309">
                  <a:extLst>
                    <a:ext uri="{9D8B030D-6E8A-4147-A177-3AD203B41FA5}">
                      <a16:colId xmlns:a16="http://schemas.microsoft.com/office/drawing/2014/main" val="167292040"/>
                    </a:ext>
                  </a:extLst>
                </a:gridCol>
                <a:gridCol w="2652230">
                  <a:extLst>
                    <a:ext uri="{9D8B030D-6E8A-4147-A177-3AD203B41FA5}">
                      <a16:colId xmlns:a16="http://schemas.microsoft.com/office/drawing/2014/main" val="1916834676"/>
                    </a:ext>
                  </a:extLst>
                </a:gridCol>
                <a:gridCol w="2255270">
                  <a:extLst>
                    <a:ext uri="{9D8B030D-6E8A-4147-A177-3AD203B41FA5}">
                      <a16:colId xmlns:a16="http://schemas.microsoft.com/office/drawing/2014/main" val="288252327"/>
                    </a:ext>
                  </a:extLst>
                </a:gridCol>
                <a:gridCol w="2378191">
                  <a:extLst>
                    <a:ext uri="{9D8B030D-6E8A-4147-A177-3AD203B41FA5}">
                      <a16:colId xmlns:a16="http://schemas.microsoft.com/office/drawing/2014/main" val="2245108764"/>
                    </a:ext>
                  </a:extLst>
                </a:gridCol>
                <a:gridCol w="2133599">
                  <a:extLst>
                    <a:ext uri="{9D8B030D-6E8A-4147-A177-3AD203B41FA5}">
                      <a16:colId xmlns:a16="http://schemas.microsoft.com/office/drawing/2014/main" val="374653881"/>
                    </a:ext>
                  </a:extLst>
                </a:gridCol>
              </a:tblGrid>
              <a:tr h="35478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100">
                          <a:effectLst/>
                        </a:rPr>
                        <a:t>Function Name</a:t>
                      </a:r>
                      <a:endParaRPr lang="en-IN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100">
                          <a:effectLst/>
                        </a:rPr>
                        <a:t>Purpose</a:t>
                      </a:r>
                      <a:endParaRPr lang="en-IN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100">
                          <a:effectLst/>
                        </a:rPr>
                        <a:t>Syntax</a:t>
                      </a:r>
                      <a:endParaRPr lang="en-IN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100">
                          <a:effectLst/>
                        </a:rPr>
                        <a:t>Example</a:t>
                      </a:r>
                      <a:endParaRPr lang="en-IN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100" dirty="0">
                          <a:effectLst/>
                        </a:rPr>
                        <a:t>Output</a:t>
                      </a:r>
                      <a:endParaRPr lang="en-IN" sz="20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675874002"/>
                  </a:ext>
                </a:extLst>
              </a:tr>
              <a:tr h="127634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100">
                          <a:effectLst/>
                        </a:rPr>
                        <a:t>gets()</a:t>
                      </a:r>
                      <a:endParaRPr lang="en-IN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100" dirty="0">
                          <a:effectLst/>
                        </a:rPr>
                        <a:t>To read a string (including spaces) from user</a:t>
                      </a:r>
                      <a:endParaRPr lang="en-IN" sz="20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100">
                          <a:effectLst/>
                        </a:rPr>
                        <a:t>gets(stringVariable);</a:t>
                      </a:r>
                      <a:endParaRPr lang="en-IN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100" dirty="0">
                          <a:effectLst/>
                        </a:rPr>
                        <a:t>gets(name); (User enters: Hello World)</a:t>
                      </a:r>
                      <a:endParaRPr lang="en-IN" sz="20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100">
                          <a:effectLst/>
                        </a:rPr>
                        <a:t>name becomes "Hello World"</a:t>
                      </a:r>
                      <a:endParaRPr lang="en-IN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37216183"/>
                  </a:ext>
                </a:extLst>
              </a:tr>
              <a:tr h="95308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100" dirty="0" err="1">
                          <a:effectLst/>
                        </a:rPr>
                        <a:t>strcpy</a:t>
                      </a:r>
                      <a:r>
                        <a:rPr lang="en-IN" sz="2000" kern="100" dirty="0">
                          <a:effectLst/>
                        </a:rPr>
                        <a:t>()</a:t>
                      </a:r>
                      <a:endParaRPr lang="en-IN" sz="20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100">
                          <a:effectLst/>
                        </a:rPr>
                        <a:t>To copy one string into another</a:t>
                      </a:r>
                      <a:endParaRPr lang="en-IN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100" dirty="0" err="1">
                          <a:effectLst/>
                        </a:rPr>
                        <a:t>strcpy</a:t>
                      </a:r>
                      <a:r>
                        <a:rPr lang="en-IN" sz="2000" kern="100" dirty="0">
                          <a:effectLst/>
                        </a:rPr>
                        <a:t>(destination, source);</a:t>
                      </a:r>
                      <a:endParaRPr lang="en-IN" sz="20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100">
                          <a:effectLst/>
                        </a:rPr>
                        <a:t>strcpy(str1, "India");</a:t>
                      </a:r>
                      <a:endParaRPr lang="en-IN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100">
                          <a:effectLst/>
                        </a:rPr>
                        <a:t>str1 becomes "India"</a:t>
                      </a:r>
                      <a:endParaRPr lang="en-IN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214526660"/>
                  </a:ext>
                </a:extLst>
              </a:tr>
              <a:tr h="159960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100">
                          <a:effectLst/>
                        </a:rPr>
                        <a:t>strcat()</a:t>
                      </a:r>
                      <a:endParaRPr lang="en-IN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100">
                          <a:effectLst/>
                        </a:rPr>
                        <a:t>To join (append) one string at the end of another</a:t>
                      </a:r>
                      <a:endParaRPr lang="en-IN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100" dirty="0" err="1">
                          <a:effectLst/>
                        </a:rPr>
                        <a:t>strcat</a:t>
                      </a:r>
                      <a:r>
                        <a:rPr lang="en-IN" sz="2000" kern="100" dirty="0">
                          <a:effectLst/>
                        </a:rPr>
                        <a:t>(string1, string2);</a:t>
                      </a:r>
                      <a:endParaRPr lang="en-IN" sz="20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100">
                          <a:effectLst/>
                        </a:rPr>
                        <a:t>If str1 = "Hello" and str2 = "World" then strcat(str1, str2);</a:t>
                      </a:r>
                      <a:endParaRPr lang="en-IN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100" dirty="0">
                          <a:effectLst/>
                        </a:rPr>
                        <a:t>str1 becomes "HelloWorld"</a:t>
                      </a:r>
                      <a:endParaRPr lang="en-IN" sz="20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12586448"/>
                  </a:ext>
                </a:extLst>
              </a:tr>
              <a:tr h="127634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100">
                          <a:effectLst/>
                        </a:rPr>
                        <a:t>strlen()</a:t>
                      </a:r>
                      <a:endParaRPr lang="en-IN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100">
                          <a:effectLst/>
                        </a:rPr>
                        <a:t>To find the length (number of characters) of a string</a:t>
                      </a:r>
                      <a:endParaRPr lang="en-IN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100">
                          <a:effectLst/>
                        </a:rPr>
                        <a:t>strlen(stringName);</a:t>
                      </a:r>
                      <a:endParaRPr lang="en-IN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100">
                          <a:effectLst/>
                        </a:rPr>
                        <a:t>If name = "Pramod" then strlen(name);</a:t>
                      </a:r>
                      <a:endParaRPr lang="en-IN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100" dirty="0">
                          <a:effectLst/>
                        </a:rPr>
                        <a:t>Output = 6 (characters)</a:t>
                      </a:r>
                      <a:endParaRPr lang="en-IN" sz="20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490024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068376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AFF540-4934-D93B-4E73-91B60A9349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BC8844-40B1-6948-4F88-B5802725D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5716" y="1697045"/>
            <a:ext cx="10900568" cy="278787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IN" sz="6000" b="1" dirty="0">
                <a:latin typeface="+mj-lt"/>
              </a:rPr>
              <a:t>Program-7: </a:t>
            </a:r>
            <a:r>
              <a:rPr lang="en-US" sz="6100" b="1" dirty="0">
                <a:latin typeface="+mj-lt"/>
              </a:rPr>
              <a:t>Develop a program to find the </a:t>
            </a:r>
            <a:r>
              <a:rPr lang="en-US" sz="60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+mj-lt"/>
              </a:rPr>
              <a:t>transpose of the matrix.</a:t>
            </a:r>
            <a:endParaRPr lang="en-IN" sz="6000" b="1" dirty="0">
              <a:solidFill>
                <a:schemeClr val="tx2">
                  <a:lumMod val="75000"/>
                  <a:lumOff val="2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7046564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B6B878-5D10-E774-944B-E2AA7AA14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ADC201-F9EC-B490-AE30-DB2AF5B8AF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740229"/>
            <a:ext cx="10659110" cy="543673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800" b="1" dirty="0"/>
              <a:t>What is a Matrix?</a:t>
            </a:r>
          </a:p>
          <a:p>
            <a:r>
              <a:rPr lang="en-US" sz="2800" dirty="0"/>
              <a:t>A matrix is like a table of numbers arranged in </a:t>
            </a:r>
            <a:r>
              <a:rPr lang="en-US" sz="2800" b="1" dirty="0"/>
              <a:t>rows</a:t>
            </a:r>
            <a:r>
              <a:rPr lang="en-US" sz="2800" dirty="0"/>
              <a:t> and </a:t>
            </a:r>
            <a:r>
              <a:rPr lang="en-US" sz="2800" b="1" dirty="0"/>
              <a:t>columns</a:t>
            </a:r>
            <a:r>
              <a:rPr lang="en-US" sz="2800" dirty="0"/>
              <a:t>.</a:t>
            </a:r>
          </a:p>
          <a:p>
            <a:r>
              <a:rPr lang="en-US" sz="2800" b="1" dirty="0"/>
              <a:t>Example:</a:t>
            </a:r>
          </a:p>
          <a:p>
            <a:endParaRPr lang="en-US" sz="2800" b="1" dirty="0"/>
          </a:p>
          <a:p>
            <a:endParaRPr lang="en-US" sz="2800" b="1" dirty="0"/>
          </a:p>
          <a:p>
            <a:endParaRPr lang="en-US" sz="2800" b="1" dirty="0"/>
          </a:p>
          <a:p>
            <a:endParaRPr lang="en-US" sz="2800" b="1" dirty="0"/>
          </a:p>
          <a:p>
            <a:endParaRPr lang="en-US" sz="2800" b="1" dirty="0"/>
          </a:p>
          <a:p>
            <a:r>
              <a:rPr lang="en-US" sz="2800" b="1" dirty="0"/>
              <a:t>Here, this matrix has: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2800" dirty="0"/>
              <a:t>2 rows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2800" dirty="0"/>
              <a:t>3 columns</a:t>
            </a:r>
          </a:p>
          <a:p>
            <a:endParaRPr lang="en-US" sz="2400" b="1" dirty="0"/>
          </a:p>
          <a:p>
            <a:pPr marL="0" indent="0">
              <a:buNone/>
            </a:pPr>
            <a:endParaRPr lang="en-IN" sz="2400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440493D-7B73-F2DC-80F1-8791089B50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9353623"/>
              </p:ext>
            </p:extLst>
          </p:nvPr>
        </p:nvGraphicFramePr>
        <p:xfrm>
          <a:off x="2906407" y="2210230"/>
          <a:ext cx="2373163" cy="1490912"/>
        </p:xfrm>
        <a:graphic>
          <a:graphicData uri="http://schemas.openxmlformats.org/drawingml/2006/table">
            <a:tbl>
              <a:tblPr/>
              <a:tblGrid>
                <a:gridCol w="863086">
                  <a:extLst>
                    <a:ext uri="{9D8B030D-6E8A-4147-A177-3AD203B41FA5}">
                      <a16:colId xmlns:a16="http://schemas.microsoft.com/office/drawing/2014/main" val="2306715820"/>
                    </a:ext>
                  </a:extLst>
                </a:gridCol>
                <a:gridCol w="863086">
                  <a:extLst>
                    <a:ext uri="{9D8B030D-6E8A-4147-A177-3AD203B41FA5}">
                      <a16:colId xmlns:a16="http://schemas.microsoft.com/office/drawing/2014/main" val="2346520885"/>
                    </a:ext>
                  </a:extLst>
                </a:gridCol>
                <a:gridCol w="646991">
                  <a:extLst>
                    <a:ext uri="{9D8B030D-6E8A-4147-A177-3AD203B41FA5}">
                      <a16:colId xmlns:a16="http://schemas.microsoft.com/office/drawing/2014/main" val="147346925"/>
                    </a:ext>
                  </a:extLst>
                </a:gridCol>
              </a:tblGrid>
              <a:tr h="745456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4000" b="1" dirty="0">
                          <a:effectLst/>
                          <a:latin typeface="+mj-lt"/>
                        </a:rPr>
                        <a:t>1</a:t>
                      </a:r>
                      <a:endParaRPr lang="en-IN" sz="4000" dirty="0">
                        <a:effectLst/>
                        <a:latin typeface="+mj-lt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4000" b="1">
                          <a:effectLst/>
                          <a:latin typeface="+mj-lt"/>
                        </a:rPr>
                        <a:t>2</a:t>
                      </a:r>
                      <a:endParaRPr lang="en-IN" sz="4000">
                        <a:effectLst/>
                        <a:latin typeface="+mj-lt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4000" b="1">
                          <a:effectLst/>
                          <a:latin typeface="+mj-lt"/>
                        </a:rPr>
                        <a:t>3</a:t>
                      </a:r>
                      <a:endParaRPr lang="en-IN" sz="4000">
                        <a:effectLst/>
                        <a:latin typeface="+mj-lt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1779871"/>
                  </a:ext>
                </a:extLst>
              </a:tr>
              <a:tr h="745456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4000" b="1">
                          <a:effectLst/>
                          <a:latin typeface="+mj-lt"/>
                        </a:rPr>
                        <a:t>4</a:t>
                      </a:r>
                      <a:endParaRPr lang="en-IN" sz="4000">
                        <a:effectLst/>
                        <a:latin typeface="+mj-lt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4000" b="1">
                          <a:effectLst/>
                          <a:latin typeface="+mj-lt"/>
                        </a:rPr>
                        <a:t>5</a:t>
                      </a:r>
                      <a:endParaRPr lang="en-IN" sz="4000">
                        <a:effectLst/>
                        <a:latin typeface="+mj-lt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4000" b="1" dirty="0">
                          <a:effectLst/>
                          <a:latin typeface="+mj-lt"/>
                        </a:rPr>
                        <a:t>6</a:t>
                      </a:r>
                      <a:endParaRPr lang="en-IN" sz="4000" dirty="0">
                        <a:effectLst/>
                        <a:latin typeface="+mj-lt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6757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475549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073490-0BD1-41DC-D55F-DC96A0AD9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4A09BB-B4CE-D1C0-E044-7558B2B86B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740229"/>
            <a:ext cx="10659110" cy="54367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What is </a:t>
            </a:r>
            <a:r>
              <a:rPr lang="en-US" sz="2400" b="1" dirty="0">
                <a:solidFill>
                  <a:srgbClr val="C00000"/>
                </a:solidFill>
              </a:rPr>
              <a:t>Transpose</a:t>
            </a:r>
            <a:r>
              <a:rPr lang="en-US" sz="2400" b="1" dirty="0"/>
              <a:t> of a Matrix?</a:t>
            </a:r>
          </a:p>
          <a:p>
            <a:r>
              <a:rPr lang="en-US" sz="2400" dirty="0"/>
              <a:t>Transpose simply means </a:t>
            </a:r>
            <a:r>
              <a:rPr lang="en-US" sz="2400" b="1" dirty="0">
                <a:solidFill>
                  <a:srgbClr val="C00000"/>
                </a:solidFill>
              </a:rPr>
              <a:t>interchanging</a:t>
            </a:r>
            <a:r>
              <a:rPr lang="en-US" sz="2400" b="1" dirty="0"/>
              <a:t> rows </a:t>
            </a:r>
            <a:r>
              <a:rPr lang="en-US" sz="2400" dirty="0"/>
              <a:t>with</a:t>
            </a:r>
            <a:r>
              <a:rPr lang="en-US" sz="2400" b="1" dirty="0"/>
              <a:t> columns</a:t>
            </a:r>
            <a:r>
              <a:rPr lang="en-US" sz="2400" dirty="0"/>
              <a:t>.</a:t>
            </a:r>
          </a:p>
          <a:p>
            <a:r>
              <a:rPr lang="en-US" sz="2400" dirty="0"/>
              <a:t>So if we take the previous slide matrix:</a:t>
            </a:r>
          </a:p>
          <a:p>
            <a:pPr lvl="1"/>
            <a:r>
              <a:rPr lang="en-US" sz="2400" b="1" dirty="0">
                <a:solidFill>
                  <a:schemeClr val="accent3">
                    <a:lumMod val="50000"/>
                  </a:schemeClr>
                </a:solidFill>
              </a:rPr>
              <a:t>Row 1</a:t>
            </a:r>
            <a:r>
              <a:rPr lang="en-US" sz="2400" dirty="0"/>
              <a:t> → becomes </a:t>
            </a:r>
            <a:r>
              <a:rPr lang="en-US" sz="2400" b="1" dirty="0">
                <a:solidFill>
                  <a:schemeClr val="accent3">
                    <a:lumMod val="50000"/>
                  </a:schemeClr>
                </a:solidFill>
              </a:rPr>
              <a:t>Column 1</a:t>
            </a:r>
          </a:p>
          <a:p>
            <a:pPr lvl="1"/>
            <a:r>
              <a:rPr lang="en-US" sz="2400" b="1" dirty="0">
                <a:solidFill>
                  <a:schemeClr val="accent3">
                    <a:lumMod val="50000"/>
                  </a:schemeClr>
                </a:solidFill>
              </a:rPr>
              <a:t>Row 2 </a:t>
            </a:r>
            <a:r>
              <a:rPr lang="en-US" sz="2400" dirty="0"/>
              <a:t>→ becomes </a:t>
            </a:r>
            <a:r>
              <a:rPr lang="en-US" sz="2400" b="1" dirty="0">
                <a:solidFill>
                  <a:schemeClr val="accent3">
                    <a:lumMod val="50000"/>
                  </a:schemeClr>
                </a:solidFill>
              </a:rPr>
              <a:t>Column 2</a:t>
            </a:r>
          </a:p>
          <a:p>
            <a:r>
              <a:rPr lang="en-US" sz="2400" dirty="0"/>
              <a:t>So the transpose will be: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IN" sz="2400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43A4964-5BE4-3000-767B-3936F392E4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1088002"/>
              </p:ext>
            </p:extLst>
          </p:nvPr>
        </p:nvGraphicFramePr>
        <p:xfrm>
          <a:off x="3088699" y="3695405"/>
          <a:ext cx="2800472" cy="2133600"/>
        </p:xfrm>
        <a:graphic>
          <a:graphicData uri="http://schemas.openxmlformats.org/drawingml/2006/table">
            <a:tbl>
              <a:tblPr/>
              <a:tblGrid>
                <a:gridCol w="1200272">
                  <a:extLst>
                    <a:ext uri="{9D8B030D-6E8A-4147-A177-3AD203B41FA5}">
                      <a16:colId xmlns:a16="http://schemas.microsoft.com/office/drawing/2014/main" val="3416297599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862353745"/>
                    </a:ext>
                  </a:extLst>
                </a:gridCol>
              </a:tblGrid>
              <a:tr h="626027">
                <a:tc>
                  <a:txBody>
                    <a:bodyPr/>
                    <a:lstStyle/>
                    <a:p>
                      <a:pPr marL="0" marR="0" algn="ctr" fontAlgn="t">
                        <a:buNone/>
                      </a:pPr>
                      <a:r>
                        <a:rPr lang="en-IN" sz="4000" b="1" dirty="0">
                          <a:effectLst/>
                          <a:latin typeface="+mj-lt"/>
                        </a:rPr>
                        <a:t>1 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buNone/>
                      </a:pPr>
                      <a:r>
                        <a:rPr lang="en-IN" sz="4000" b="1">
                          <a:effectLst/>
                          <a:latin typeface="+mj-lt"/>
                        </a:rPr>
                        <a:t>4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9284642"/>
                  </a:ext>
                </a:extLst>
              </a:tr>
              <a:tr h="626027">
                <a:tc>
                  <a:txBody>
                    <a:bodyPr/>
                    <a:lstStyle/>
                    <a:p>
                      <a:pPr marL="0" marR="0" algn="ctr" fontAlgn="t">
                        <a:buNone/>
                      </a:pPr>
                      <a:r>
                        <a:rPr lang="en-IN" sz="4000" b="1" dirty="0">
                          <a:effectLst/>
                          <a:latin typeface="+mj-lt"/>
                        </a:rPr>
                        <a:t>2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buNone/>
                      </a:pPr>
                      <a:r>
                        <a:rPr lang="en-IN" sz="4000" b="1" dirty="0">
                          <a:effectLst/>
                          <a:latin typeface="+mj-lt"/>
                        </a:rPr>
                        <a:t>5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9866163"/>
                  </a:ext>
                </a:extLst>
              </a:tr>
              <a:tr h="626027">
                <a:tc>
                  <a:txBody>
                    <a:bodyPr/>
                    <a:lstStyle/>
                    <a:p>
                      <a:pPr marL="0" marR="0" algn="ctr" fontAlgn="t">
                        <a:buNone/>
                      </a:pPr>
                      <a:r>
                        <a:rPr lang="en-IN" sz="4000" b="1" dirty="0">
                          <a:effectLst/>
                          <a:latin typeface="+mj-lt"/>
                        </a:rPr>
                        <a:t>3 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buNone/>
                      </a:pPr>
                      <a:r>
                        <a:rPr lang="en-IN" sz="4000" b="1" dirty="0">
                          <a:effectLst/>
                          <a:latin typeface="+mj-lt"/>
                        </a:rPr>
                        <a:t>6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1964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014271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F6E7A-ADBE-2418-C8DF-54DAD3304D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C8A5F8-41C9-4262-631D-3FD5BAA335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740229"/>
            <a:ext cx="10659110" cy="54367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3200" b="1" dirty="0"/>
              <a:t>Transformation Mapping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E516ACE-B7C9-4CC3-4F98-BA19F20166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2573223"/>
              </p:ext>
            </p:extLst>
          </p:nvPr>
        </p:nvGraphicFramePr>
        <p:xfrm>
          <a:off x="1078273" y="1647022"/>
          <a:ext cx="10014268" cy="437277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337719">
                  <a:extLst>
                    <a:ext uri="{9D8B030D-6E8A-4147-A177-3AD203B41FA5}">
                      <a16:colId xmlns:a16="http://schemas.microsoft.com/office/drawing/2014/main" val="1410799282"/>
                    </a:ext>
                  </a:extLst>
                </a:gridCol>
                <a:gridCol w="2224294">
                  <a:extLst>
                    <a:ext uri="{9D8B030D-6E8A-4147-A177-3AD203B41FA5}">
                      <a16:colId xmlns:a16="http://schemas.microsoft.com/office/drawing/2014/main" val="3190960902"/>
                    </a:ext>
                  </a:extLst>
                </a:gridCol>
                <a:gridCol w="4452255">
                  <a:extLst>
                    <a:ext uri="{9D8B030D-6E8A-4147-A177-3AD203B41FA5}">
                      <a16:colId xmlns:a16="http://schemas.microsoft.com/office/drawing/2014/main" val="700435909"/>
                    </a:ext>
                  </a:extLst>
                </a:gridCol>
              </a:tblGrid>
              <a:tr h="62468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3200" kern="100">
                          <a:effectLst/>
                        </a:rPr>
                        <a:t>Original A Position</a:t>
                      </a:r>
                      <a:endParaRPr lang="en-IN" sz="3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3200" kern="100">
                          <a:effectLst/>
                        </a:rPr>
                        <a:t>Value</a:t>
                      </a:r>
                      <a:endParaRPr lang="en-IN" sz="3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3200" kern="100">
                          <a:effectLst/>
                        </a:rPr>
                        <a:t>Transpose A^T Position</a:t>
                      </a:r>
                      <a:endParaRPr lang="en-IN" sz="3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705033065"/>
                  </a:ext>
                </a:extLst>
              </a:tr>
              <a:tr h="62468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3200" kern="100">
                          <a:effectLst/>
                        </a:rPr>
                        <a:t>A(1,1)</a:t>
                      </a:r>
                      <a:endParaRPr lang="en-IN" sz="3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3200" kern="100">
                          <a:effectLst/>
                        </a:rPr>
                        <a:t>1</a:t>
                      </a:r>
                      <a:endParaRPr lang="en-IN" sz="3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3200" kern="100">
                          <a:effectLst/>
                        </a:rPr>
                        <a:t>A^T(1,1)</a:t>
                      </a:r>
                      <a:endParaRPr lang="en-IN" sz="3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30365154"/>
                  </a:ext>
                </a:extLst>
              </a:tr>
              <a:tr h="62468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3200" kern="100">
                          <a:effectLst/>
                        </a:rPr>
                        <a:t>A(1,2)</a:t>
                      </a:r>
                      <a:endParaRPr lang="en-IN" sz="3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3200" kern="100">
                          <a:effectLst/>
                        </a:rPr>
                        <a:t>2</a:t>
                      </a:r>
                      <a:endParaRPr lang="en-IN" sz="3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3200" kern="100">
                          <a:effectLst/>
                        </a:rPr>
                        <a:t>A^T(2,1)</a:t>
                      </a:r>
                      <a:endParaRPr lang="en-IN" sz="3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058476045"/>
                  </a:ext>
                </a:extLst>
              </a:tr>
              <a:tr h="62468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3200" kern="100">
                          <a:effectLst/>
                        </a:rPr>
                        <a:t>A(1,3)</a:t>
                      </a:r>
                      <a:endParaRPr lang="en-IN" sz="3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3200" kern="100">
                          <a:effectLst/>
                        </a:rPr>
                        <a:t>3</a:t>
                      </a:r>
                      <a:endParaRPr lang="en-IN" sz="3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3200" kern="100">
                          <a:effectLst/>
                        </a:rPr>
                        <a:t>A^T(3,1)</a:t>
                      </a:r>
                      <a:endParaRPr lang="en-IN" sz="3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092010418"/>
                  </a:ext>
                </a:extLst>
              </a:tr>
              <a:tr h="62468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3200" kern="100">
                          <a:effectLst/>
                        </a:rPr>
                        <a:t>A(2,1)</a:t>
                      </a:r>
                      <a:endParaRPr lang="en-IN" sz="3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3200" kern="100">
                          <a:effectLst/>
                        </a:rPr>
                        <a:t>4</a:t>
                      </a:r>
                      <a:endParaRPr lang="en-IN" sz="3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3200" kern="100" dirty="0">
                          <a:effectLst/>
                        </a:rPr>
                        <a:t>A^T(1,2)</a:t>
                      </a:r>
                      <a:endParaRPr lang="en-IN" sz="3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99672072"/>
                  </a:ext>
                </a:extLst>
              </a:tr>
              <a:tr h="62468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3200" kern="100">
                          <a:effectLst/>
                        </a:rPr>
                        <a:t>A(2,2)</a:t>
                      </a:r>
                      <a:endParaRPr lang="en-IN" sz="3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3200" kern="100">
                          <a:effectLst/>
                        </a:rPr>
                        <a:t>5</a:t>
                      </a:r>
                      <a:endParaRPr lang="en-IN" sz="3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3200" kern="100" dirty="0">
                          <a:effectLst/>
                        </a:rPr>
                        <a:t>A^T(2,2)</a:t>
                      </a:r>
                      <a:endParaRPr lang="en-IN" sz="3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18132812"/>
                  </a:ext>
                </a:extLst>
              </a:tr>
              <a:tr h="62468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3200" kern="100">
                          <a:effectLst/>
                        </a:rPr>
                        <a:t>A(2,3)</a:t>
                      </a:r>
                      <a:endParaRPr lang="en-IN" sz="3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3200" kern="100">
                          <a:effectLst/>
                        </a:rPr>
                        <a:t>6</a:t>
                      </a:r>
                      <a:endParaRPr lang="en-IN" sz="3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3200" kern="100" dirty="0">
                          <a:effectLst/>
                        </a:rPr>
                        <a:t>A^T(3,2)</a:t>
                      </a:r>
                      <a:endParaRPr lang="en-IN" sz="3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098134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918664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27713-7219-2FB0-A126-8BF386685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D5F598-8056-97EA-3BD0-BFF0C48C78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740229"/>
            <a:ext cx="10659110" cy="5436734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9273948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EABFE9-E10D-0253-76F1-E7505E9F7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730F06-AAC5-FBC6-95C1-4BF9182922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5716" y="1697045"/>
            <a:ext cx="10900568" cy="278787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IN" sz="6000" b="1" dirty="0">
                <a:latin typeface="+mj-lt"/>
              </a:rPr>
              <a:t>Program-6: </a:t>
            </a:r>
            <a:r>
              <a:rPr lang="en-US" sz="6000" b="1" dirty="0">
                <a:latin typeface="+mj-lt"/>
              </a:rPr>
              <a:t>Generate </a:t>
            </a:r>
            <a:r>
              <a:rPr lang="en-US" sz="60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+mj-lt"/>
              </a:rPr>
              <a:t>Floyd's</a:t>
            </a:r>
            <a:r>
              <a:rPr lang="en-US" sz="6000" b="1" dirty="0">
                <a:latin typeface="+mj-lt"/>
              </a:rPr>
              <a:t> Triangle for given Rows</a:t>
            </a:r>
            <a:endParaRPr lang="en-IN" sz="6000" b="1" dirty="0">
              <a:solidFill>
                <a:schemeClr val="tx2">
                  <a:lumMod val="75000"/>
                  <a:lumOff val="2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3507064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825371-62D4-E5FE-2A67-AC368A38F1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740229"/>
            <a:ext cx="10659110" cy="54367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Floyd’s Triangle</a:t>
            </a:r>
          </a:p>
          <a:p>
            <a:r>
              <a:rPr lang="en-US" sz="2400" b="1" dirty="0"/>
              <a:t>Floyd’s Triangle</a:t>
            </a:r>
            <a:r>
              <a:rPr lang="en-US" sz="2400" dirty="0"/>
              <a:t> is a simple </a:t>
            </a:r>
            <a:r>
              <a:rPr lang="en-US" sz="2400" b="1" dirty="0">
                <a:solidFill>
                  <a:srgbClr val="C00000"/>
                </a:solidFill>
              </a:rPr>
              <a:t>number pattern</a:t>
            </a:r>
            <a:r>
              <a:rPr lang="en-US" sz="2400" dirty="0">
                <a:solidFill>
                  <a:srgbClr val="C00000"/>
                </a:solidFill>
              </a:rPr>
              <a:t> </a:t>
            </a:r>
            <a:r>
              <a:rPr lang="en-US" sz="2400" dirty="0"/>
              <a:t>that looks like a </a:t>
            </a:r>
            <a:r>
              <a:rPr lang="en-US" sz="2400" b="1" dirty="0">
                <a:solidFill>
                  <a:srgbClr val="C00000"/>
                </a:solidFill>
              </a:rPr>
              <a:t>triangle</a:t>
            </a:r>
            <a:r>
              <a:rPr lang="en-US" sz="2400" dirty="0"/>
              <a:t> made up of </a:t>
            </a:r>
            <a:r>
              <a:rPr lang="en-US" sz="2400" b="1" dirty="0"/>
              <a:t>consecutive </a:t>
            </a:r>
            <a:r>
              <a:rPr lang="en-US" sz="2400" b="1" dirty="0">
                <a:solidFill>
                  <a:srgbClr val="C00000"/>
                </a:solidFill>
              </a:rPr>
              <a:t>natural numbers </a:t>
            </a:r>
            <a:r>
              <a:rPr lang="en-US" sz="2400" dirty="0"/>
              <a:t>(1, 2, 3, 4, 5, …).</a:t>
            </a:r>
          </a:p>
          <a:p>
            <a:r>
              <a:rPr lang="en-US" sz="2400" dirty="0"/>
              <a:t>It starts with the number </a:t>
            </a:r>
            <a:r>
              <a:rPr lang="en-US" sz="2400" b="1" dirty="0"/>
              <a:t>1</a:t>
            </a:r>
            <a:r>
              <a:rPr lang="en-US" sz="2400" dirty="0"/>
              <a:t> at the top, and each new row contains </a:t>
            </a:r>
            <a:r>
              <a:rPr lang="en-US" sz="2400" b="1" dirty="0"/>
              <a:t>one more number</a:t>
            </a:r>
            <a:r>
              <a:rPr lang="en-US" sz="2400" dirty="0"/>
              <a:t> than the previous row.</a:t>
            </a:r>
          </a:p>
          <a:p>
            <a:r>
              <a:rPr lang="en-US" sz="2400" dirty="0"/>
              <a:t>Here’s how it forms:</a:t>
            </a:r>
          </a:p>
          <a:p>
            <a:pPr lvl="1"/>
            <a:r>
              <a:rPr lang="en-US" sz="2200" dirty="0"/>
              <a:t>Row 1 → 1 number → </a:t>
            </a:r>
            <a:r>
              <a:rPr lang="en-US" dirty="0"/>
              <a:t>1</a:t>
            </a:r>
            <a:endParaRPr lang="en-US" sz="2200" dirty="0"/>
          </a:p>
          <a:p>
            <a:pPr lvl="1"/>
            <a:r>
              <a:rPr lang="en-US" sz="2200" dirty="0"/>
              <a:t>Row 2 → 2 numbers → </a:t>
            </a:r>
            <a:r>
              <a:rPr lang="en-US" dirty="0"/>
              <a:t>2 3</a:t>
            </a:r>
            <a:endParaRPr lang="en-US" sz="2200" dirty="0"/>
          </a:p>
          <a:p>
            <a:pPr lvl="1"/>
            <a:r>
              <a:rPr lang="en-US" sz="2200" dirty="0"/>
              <a:t>Row 3 → 3 numbers → </a:t>
            </a:r>
            <a:r>
              <a:rPr lang="en-US" dirty="0"/>
              <a:t>4 5 6</a:t>
            </a:r>
            <a:endParaRPr lang="en-US" sz="2200" dirty="0"/>
          </a:p>
          <a:p>
            <a:pPr lvl="1"/>
            <a:r>
              <a:rPr lang="en-US" sz="2200" dirty="0"/>
              <a:t>Row 4 → 4 numbers → </a:t>
            </a:r>
            <a:r>
              <a:rPr lang="en-US" dirty="0"/>
              <a:t>7 8 9 10</a:t>
            </a:r>
            <a:endParaRPr lang="en-US" sz="2200" dirty="0"/>
          </a:p>
          <a:p>
            <a:pPr lvl="1"/>
            <a:r>
              <a:rPr lang="en-US" sz="2200" dirty="0"/>
              <a:t>Row 5 → 5 numbers → </a:t>
            </a:r>
            <a:r>
              <a:rPr lang="en-US" dirty="0"/>
              <a:t>11 12 13 14 15</a:t>
            </a:r>
            <a:endParaRPr lang="en-US" sz="2200" dirty="0"/>
          </a:p>
          <a:p>
            <a:r>
              <a:rPr lang="en-US" sz="2400" dirty="0"/>
              <a:t>Each number continues from the previous one</a:t>
            </a:r>
          </a:p>
          <a:p>
            <a:r>
              <a:rPr lang="en-US" sz="2400" dirty="0"/>
              <a:t>There are </a:t>
            </a:r>
            <a:r>
              <a:rPr lang="en-US" sz="2400" b="1" dirty="0"/>
              <a:t>no skips</a:t>
            </a:r>
            <a:r>
              <a:rPr lang="en-US" sz="2400" dirty="0"/>
              <a:t>.</a:t>
            </a:r>
          </a:p>
          <a:p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6D131BE-FD71-8C8E-A1B3-C035777DBD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7458" y="2614275"/>
            <a:ext cx="3955971" cy="3562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97637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2434F4-19A4-EFAC-5477-6E61F3708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72CE86-BF42-BAB8-E553-4CD413A915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5716" y="1381359"/>
            <a:ext cx="10900568" cy="4095281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IN" sz="6000" b="1" dirty="0">
                <a:latin typeface="+mj-lt"/>
              </a:rPr>
              <a:t>Program-2: Develop a Program to Find the </a:t>
            </a:r>
            <a:r>
              <a:rPr lang="en-IN" sz="6000" b="1" dirty="0">
                <a:solidFill>
                  <a:srgbClr val="C00000"/>
                </a:solidFill>
                <a:latin typeface="+mj-lt"/>
              </a:rPr>
              <a:t>Roots</a:t>
            </a:r>
            <a:r>
              <a:rPr lang="en-IN" sz="6000" b="1" dirty="0">
                <a:latin typeface="+mj-lt"/>
              </a:rPr>
              <a:t> of </a:t>
            </a:r>
            <a:r>
              <a:rPr lang="en-IN" sz="60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+mj-lt"/>
              </a:rPr>
              <a:t>Quadratic Equations</a:t>
            </a:r>
          </a:p>
        </p:txBody>
      </p:sp>
    </p:spTree>
    <p:extLst>
      <p:ext uri="{BB962C8B-B14F-4D97-AF65-F5344CB8AC3E}">
        <p14:creationId xmlns:p14="http://schemas.microsoft.com/office/powerpoint/2010/main" val="35564439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C718D-1BC9-3D5D-C0C5-C60151874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5E2A00-176B-D173-0089-6F97C73608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02853" y="719137"/>
                <a:ext cx="10900568" cy="531380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IN" sz="2800" b="1" dirty="0"/>
                  <a:t>What is quadratic equation: (quadratic means </a:t>
                </a:r>
                <a:r>
                  <a:rPr lang="en-IN" sz="2800" b="1" dirty="0">
                    <a:solidFill>
                      <a:srgbClr val="C00000"/>
                    </a:solidFill>
                  </a:rPr>
                  <a:t>square</a:t>
                </a:r>
                <a:r>
                  <a:rPr lang="en-IN" sz="2800" b="1" dirty="0"/>
                  <a:t> )</a:t>
                </a:r>
              </a:p>
              <a:p>
                <a:r>
                  <a:rPr lang="en-US" sz="2400" dirty="0"/>
                  <a:t>A </a:t>
                </a:r>
                <a:r>
                  <a:rPr lang="en-US" sz="2400" b="1" dirty="0"/>
                  <a:t>quadratic equation</a:t>
                </a:r>
                <a:r>
                  <a:rPr lang="en-US" sz="2400" dirty="0"/>
                  <a:t> is a type of polynomial equation in which the </a:t>
                </a:r>
                <a:r>
                  <a:rPr lang="en-US" sz="2400" b="1" dirty="0"/>
                  <a:t>highest power of the variable (usually x)</a:t>
                </a:r>
                <a:r>
                  <a:rPr lang="en-US" sz="2400" dirty="0"/>
                  <a:t> is </a:t>
                </a:r>
                <a:r>
                  <a:rPr lang="en-US" sz="2400" b="1" dirty="0"/>
                  <a:t>2</a:t>
                </a:r>
                <a:r>
                  <a:rPr lang="en-US" sz="2400" dirty="0"/>
                  <a:t>.</a:t>
                </a:r>
              </a:p>
              <a:p>
                <a:r>
                  <a:rPr lang="en-US" sz="2400" dirty="0"/>
                  <a:t>It has the general form:</a:t>
                </a:r>
              </a:p>
              <a:p>
                <a:endParaRPr lang="en-US" sz="2400" dirty="0"/>
              </a:p>
              <a:p>
                <a:endParaRPr lang="en-US" sz="2400" dirty="0"/>
              </a:p>
              <a:p>
                <a:endParaRPr lang="en-US" sz="2400" dirty="0"/>
              </a:p>
              <a:p>
                <a:r>
                  <a:rPr lang="en-US" sz="2400" b="1" dirty="0"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sz="2400" dirty="0"/>
                  <a:t>are real numbers (constants)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≠0</m:t>
                    </m:r>
                  </m:oMath>
                </a14:m>
                <a:r>
                  <a:rPr lang="en-US" sz="2400" dirty="0"/>
                  <a:t>(because if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400" dirty="0"/>
                  <a:t>, it becomes a linear equation)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400" dirty="0"/>
                  <a:t>is the variable</a:t>
                </a:r>
              </a:p>
              <a:p>
                <a:endParaRPr lang="en-US" sz="2400" dirty="0"/>
              </a:p>
              <a:p>
                <a:pPr marL="0" indent="0">
                  <a:buNone/>
                </a:pPr>
                <a:endParaRPr lang="en-IN" sz="2400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5E2A00-176B-D173-0089-6F97C73608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02853" y="719137"/>
                <a:ext cx="10900568" cy="5313801"/>
              </a:xfrm>
              <a:blipFill>
                <a:blip r:embed="rId2"/>
                <a:stretch>
                  <a:fillRect l="-1119" t="-195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A8DB345C-0878-7BF5-5891-421483A3CC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3238" y="2703612"/>
            <a:ext cx="3926019" cy="892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838905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317A71-9FDE-A34F-73E5-980661583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D4C9AB-810B-E8C7-F1F5-53D8745121B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02853" y="719137"/>
                <a:ext cx="10900568" cy="531380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IN" sz="2400" b="1" dirty="0"/>
                  <a:t>Examples of Quadratic Equations: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ar-AE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2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ar-AE" sz="280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 sz="2800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sz="2800">
                        <a:latin typeface="Cambria Math" panose="02040503050406030204" pitchFamily="18" charset="0"/>
                      </a:rPr>
                      <m:t>5</m:t>
                    </m:r>
                    <m:r>
                      <a:rPr lang="ar-AE" sz="28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ar-AE" sz="2800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sz="2800">
                        <a:latin typeface="Cambria Math" panose="02040503050406030204" pitchFamily="18" charset="0"/>
                      </a:rPr>
                      <m:t>6</m:t>
                    </m:r>
                    <m:r>
                      <a:rPr lang="ar-AE" sz="28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80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sz="3200" dirty="0"/>
              </a:p>
              <a:p>
                <a14:m>
                  <m:oMath xmlns:m="http://schemas.openxmlformats.org/officeDocument/2006/math">
                    <m:r>
                      <a:rPr lang="ar-AE" sz="2800">
                        <a:latin typeface="Cambria Math" panose="02040503050406030204" pitchFamily="18" charset="0"/>
                      </a:rPr>
                      <m:t>2</m:t>
                    </m:r>
                    <m:sSup>
                      <m:sSupPr>
                        <m:ctrlPr>
                          <a:rPr lang="ar-AE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2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ar-AE" sz="280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 sz="2800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sz="2800">
                        <a:latin typeface="Cambria Math" panose="02040503050406030204" pitchFamily="18" charset="0"/>
                      </a:rPr>
                      <m:t>3</m:t>
                    </m:r>
                    <m:r>
                      <a:rPr lang="ar-AE" sz="28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ar-AE" sz="2800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sz="2800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 sz="28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80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sz="3200" dirty="0"/>
              </a:p>
              <a:p>
                <a14:m>
                  <m:oMath xmlns:m="http://schemas.openxmlformats.org/officeDocument/2006/math">
                    <m:r>
                      <a:rPr lang="ar-AE" sz="2800">
                        <a:latin typeface="Cambria Math" panose="02040503050406030204" pitchFamily="18" charset="0"/>
                      </a:rPr>
                      <m:t>4</m:t>
                    </m:r>
                    <m:sSup>
                      <m:sSupPr>
                        <m:ctrlPr>
                          <a:rPr lang="ar-AE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2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ar-AE" sz="280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 sz="2800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sz="2800">
                        <a:latin typeface="Cambria Math" panose="02040503050406030204" pitchFamily="18" charset="0"/>
                      </a:rPr>
                      <m:t>8</m:t>
                    </m:r>
                    <m:r>
                      <a:rPr lang="ar-AE" sz="28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ar-AE" sz="2800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sz="2800">
                        <a:latin typeface="Cambria Math" panose="02040503050406030204" pitchFamily="18" charset="0"/>
                      </a:rPr>
                      <m:t>12</m:t>
                    </m:r>
                    <m:r>
                      <a:rPr lang="ar-AE" sz="28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80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sz="320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ar-AE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2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ar-AE" sz="280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 sz="2800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sz="2800">
                        <a:latin typeface="Cambria Math" panose="02040503050406030204" pitchFamily="18" charset="0"/>
                      </a:rPr>
                      <m:t>9</m:t>
                    </m:r>
                    <m:r>
                      <a:rPr lang="ar-AE" sz="28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80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sz="3200" dirty="0"/>
              </a:p>
              <a:p>
                <a14:m>
                  <m:oMath xmlns:m="http://schemas.openxmlformats.org/officeDocument/2006/math">
                    <m:r>
                      <a:rPr lang="ar-AE" sz="2800">
                        <a:latin typeface="Cambria Math" panose="02040503050406030204" pitchFamily="18" charset="0"/>
                      </a:rPr>
                      <m:t>3</m:t>
                    </m:r>
                    <m:sSup>
                      <m:sSupPr>
                        <m:ctrlPr>
                          <a:rPr lang="ar-AE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2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ar-AE" sz="280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 sz="2800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sz="2800">
                        <a:latin typeface="Cambria Math" panose="02040503050406030204" pitchFamily="18" charset="0"/>
                      </a:rPr>
                      <m:t>7</m:t>
                    </m:r>
                    <m:r>
                      <a:rPr lang="ar-AE" sz="28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ar-AE" sz="28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80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sz="3200" dirty="0"/>
              </a:p>
              <a:p>
                <a:pPr marL="0" indent="0">
                  <a:buNone/>
                </a:pPr>
                <a:endParaRPr lang="en-IN" sz="2400" b="1" dirty="0"/>
              </a:p>
              <a:p>
                <a:pPr marL="0" indent="0">
                  <a:buNone/>
                </a:pPr>
                <a:r>
                  <a:rPr lang="en-IN" sz="2400" b="1" dirty="0"/>
                  <a:t>How to Identify a Quadratic Equation:</a:t>
                </a:r>
              </a:p>
              <a:p>
                <a:r>
                  <a:rPr lang="en-IN" sz="2400" dirty="0"/>
                  <a:t>If the equation contains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ar-AE" sz="2400" dirty="0"/>
                  <a:t>(</a:t>
                </a:r>
                <a:r>
                  <a:rPr lang="en-IN" sz="2400" dirty="0"/>
                  <a:t>and not any higher powers like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IN" sz="2400" dirty="0"/>
                  <a:t>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  <a:r>
                  <a:rPr lang="ar-AE" sz="2400" dirty="0"/>
                  <a:t>), </a:t>
                </a:r>
                <a:r>
                  <a:rPr lang="en-IN" sz="2400" dirty="0"/>
                  <a:t>and it can be written in the form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</a:rPr>
                      <m:t>𝑎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𝑏𝑥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ar-AE" sz="2400" dirty="0"/>
                  <a:t>, </a:t>
                </a:r>
                <a:r>
                  <a:rPr lang="en-IN" sz="2400" dirty="0"/>
                  <a:t>then it is </a:t>
                </a:r>
                <a:r>
                  <a:rPr lang="en-IN" sz="2400" b="1" dirty="0"/>
                  <a:t>quadratic</a:t>
                </a:r>
                <a:r>
                  <a:rPr lang="en-IN" sz="2400" dirty="0"/>
                  <a:t>.</a:t>
                </a:r>
              </a:p>
              <a:p>
                <a:pPr marL="0" indent="0">
                  <a:buNone/>
                </a:pPr>
                <a:endParaRPr lang="en-IN" sz="2400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D4C9AB-810B-E8C7-F1F5-53D8745121B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02853" y="719137"/>
                <a:ext cx="10900568" cy="5313801"/>
              </a:xfrm>
              <a:blipFill>
                <a:blip r:embed="rId2"/>
                <a:stretch>
                  <a:fillRect l="-839" t="-160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60428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F22C2-2457-4050-D1C8-5BE860A922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91991B-CDF1-BEB1-C710-B1ADE70639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2853" y="719137"/>
            <a:ext cx="10900568" cy="53138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C00000"/>
                </a:solidFill>
              </a:rPr>
              <a:t>Roots</a:t>
            </a:r>
            <a:r>
              <a:rPr lang="en-US" sz="2800" b="1" dirty="0"/>
              <a:t> of a Quadratic Equation</a:t>
            </a:r>
          </a:p>
          <a:p>
            <a:r>
              <a:rPr lang="en-US" sz="2400" dirty="0"/>
              <a:t>The </a:t>
            </a:r>
            <a:r>
              <a:rPr lang="en-US" sz="2400" b="1" dirty="0"/>
              <a:t>roots</a:t>
            </a:r>
            <a:r>
              <a:rPr lang="en-US" sz="2400" dirty="0"/>
              <a:t> (also called </a:t>
            </a:r>
            <a:r>
              <a:rPr lang="en-US" sz="2400" b="1" dirty="0"/>
              <a:t>solutions</a:t>
            </a:r>
            <a:r>
              <a:rPr lang="en-US" sz="2400" dirty="0"/>
              <a:t> or </a:t>
            </a:r>
            <a:r>
              <a:rPr lang="en-US" sz="2400" b="1" dirty="0"/>
              <a:t>zeros</a:t>
            </a:r>
            <a:r>
              <a:rPr lang="en-US" sz="2400" dirty="0"/>
              <a:t>) of a quadratic equation are the </a:t>
            </a:r>
            <a:r>
              <a:rPr lang="en-US" sz="2400" b="1" dirty="0"/>
              <a:t>values of x</a:t>
            </a:r>
            <a:r>
              <a:rPr lang="en-US" sz="2400" dirty="0"/>
              <a:t> that make the equation </a:t>
            </a:r>
            <a:r>
              <a:rPr lang="en-US" sz="2400" b="1" dirty="0"/>
              <a:t>true</a:t>
            </a:r>
            <a:r>
              <a:rPr lang="en-US" sz="2400" dirty="0"/>
              <a:t> — that is, the values that satisfy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In other words, if you plug a root value into the equation, the result becomes </a:t>
            </a:r>
            <a:r>
              <a:rPr lang="en-US" sz="2400" b="1" dirty="0"/>
              <a:t>0</a:t>
            </a:r>
            <a:r>
              <a:rPr lang="en-US" sz="2400" dirty="0"/>
              <a:t>.</a:t>
            </a:r>
            <a:endParaRPr lang="en-IN" sz="2400" b="1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7BEEEE5-6C62-BEED-64E1-FADDBC4065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2353" y="2536393"/>
            <a:ext cx="3926019" cy="892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01306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D9F2D-5751-65C6-9D42-344E852088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AA7068-A9C5-C644-285D-6233678538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2853" y="719137"/>
            <a:ext cx="10900568" cy="53138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Example Equation:</a:t>
            </a:r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r>
              <a:rPr lang="en-IN" sz="2400" dirty="0"/>
              <a:t>Use the </a:t>
            </a:r>
            <a:r>
              <a:rPr lang="en-IN" sz="2400" b="1" dirty="0"/>
              <a:t>quadratic formula</a:t>
            </a:r>
            <a:r>
              <a:rPr lang="en-IN" sz="2400" dirty="0"/>
              <a:t>:</a:t>
            </a:r>
          </a:p>
          <a:p>
            <a:pPr marL="0" indent="0">
              <a:buNone/>
            </a:pPr>
            <a:r>
              <a:rPr lang="en-IN" sz="2400" b="1" dirty="0"/>
              <a:t>	</a:t>
            </a:r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r>
              <a:rPr lang="en-IN" sz="2400" b="1" dirty="0"/>
              <a:t>	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ABA3B7-0440-80A0-519A-5001E8562AA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414"/>
          <a:stretch>
            <a:fillRect/>
          </a:stretch>
        </p:blipFill>
        <p:spPr>
          <a:xfrm>
            <a:off x="3268742" y="1393372"/>
            <a:ext cx="3741658" cy="67232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7300BC0-E90F-D89A-65D9-1F59580F5A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8742" y="3420876"/>
            <a:ext cx="4180952" cy="137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597474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B3E2B5-800C-F24A-06C6-269420356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F96197-CB58-9C40-7BDF-E4491EFE91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02853" y="719137"/>
                <a:ext cx="10900568" cy="531380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IN" sz="2400" dirty="0"/>
                  <a:t>Here, </a:t>
                </a:r>
                <a:r>
                  <a:rPr lang="en-IN" sz="2800" b="1" dirty="0"/>
                  <a:t> </a:t>
                </a:r>
                <a14:m>
                  <m:oMath xmlns:m="http://schemas.openxmlformats.org/officeDocument/2006/math">
                    <m:r>
                      <a:rPr lang="en-IN" sz="2400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IN" sz="2400" b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IN" sz="2400" b="1" i="1">
                        <a:latin typeface="Cambria Math" panose="02040503050406030204" pitchFamily="18" charset="0"/>
                      </a:rPr>
                      <m:t>𝟐</m:t>
                    </m:r>
                    <m:r>
                      <a:rPr lang="en-IN" sz="2400" b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IN" sz="2400" b="1" i="1">
                        <a:latin typeface="Cambria Math" panose="02040503050406030204" pitchFamily="18" charset="0"/>
                      </a:rPr>
                      <m:t>𝒃</m:t>
                    </m:r>
                    <m:r>
                      <a:rPr lang="en-IN" sz="2400" b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IN" sz="2400" b="1" i="1"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IN" sz="2400" b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IN" sz="2400" b="1" i="1"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IN" sz="2400" b="1">
                        <a:latin typeface="Cambria Math" panose="02040503050406030204" pitchFamily="18" charset="0"/>
                      </a:rPr>
                      <m:t>=−</m:t>
                    </m:r>
                    <m:r>
                      <a:rPr lang="en-IN" sz="2400" b="1" i="1"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endParaRPr lang="en-IN" sz="2400" b="1" dirty="0"/>
              </a:p>
              <a:p>
                <a:pPr marL="0" indent="0">
                  <a:buNone/>
                </a:pPr>
                <a:endParaRPr lang="en-IN" sz="2800" b="1" dirty="0"/>
              </a:p>
              <a:p>
                <a:pPr marL="0" indent="0">
                  <a:buNone/>
                </a:pPr>
                <a:endParaRPr lang="en-IN" sz="2800" b="1" dirty="0"/>
              </a:p>
              <a:p>
                <a:pPr marL="0" indent="0">
                  <a:buNone/>
                </a:pPr>
                <a:endParaRPr lang="en-IN" sz="2800" b="1" dirty="0"/>
              </a:p>
              <a:p>
                <a:pPr marL="0" indent="0">
                  <a:buNone/>
                </a:pPr>
                <a:r>
                  <a:rPr lang="en-IN" sz="2800" dirty="0"/>
                  <a:t>So,</a:t>
                </a:r>
              </a:p>
              <a:p>
                <a:pPr marL="0" indent="0">
                  <a:buNone/>
                </a:pPr>
                <a:endParaRPr lang="en-IN" sz="2800" b="1" dirty="0"/>
              </a:p>
              <a:p>
                <a:pPr marL="0" indent="0">
                  <a:buNone/>
                </a:pPr>
                <a:endParaRPr lang="en-IN" sz="2800" b="1" dirty="0"/>
              </a:p>
              <a:p>
                <a:pPr marL="0" indent="0">
                  <a:buNone/>
                </a:pPr>
                <a:endParaRPr lang="en-IN" sz="2800" b="1" dirty="0"/>
              </a:p>
              <a:p>
                <a:pPr marL="0" indent="0">
                  <a:buNone/>
                </a:pPr>
                <a:endParaRPr lang="en-IN" sz="2800" b="1" dirty="0"/>
              </a:p>
              <a:p>
                <a:pPr marL="0" indent="0">
                  <a:buNone/>
                </a:pPr>
                <a:r>
                  <a:rPr lang="en-IN" sz="2800" dirty="0"/>
                  <a:t>Roots are </a:t>
                </a:r>
                <a:r>
                  <a:rPr lang="en-IN" sz="2800" b="1" dirty="0">
                    <a:solidFill>
                      <a:srgbClr val="C00000"/>
                    </a:solidFill>
                  </a:rPr>
                  <a:t>½</a:t>
                </a:r>
                <a:r>
                  <a:rPr lang="en-IN" sz="2800" b="1" dirty="0"/>
                  <a:t> and </a:t>
                </a:r>
                <a:r>
                  <a:rPr lang="en-IN" sz="2800" b="1" dirty="0">
                    <a:solidFill>
                      <a:srgbClr val="C00000"/>
                    </a:solidFill>
                  </a:rPr>
                  <a:t>-2</a:t>
                </a:r>
                <a:r>
                  <a:rPr lang="en-IN" sz="2800" dirty="0"/>
                  <a:t>.</a:t>
                </a:r>
                <a:endParaRPr lang="en-IN" sz="2800" b="1" dirty="0"/>
              </a:p>
              <a:p>
                <a:pPr marL="0" indent="0">
                  <a:buNone/>
                </a:pPr>
                <a:endParaRPr lang="en-IN" sz="2800" b="1" dirty="0"/>
              </a:p>
              <a:p>
                <a:pPr marL="0" indent="0">
                  <a:buNone/>
                </a:pPr>
                <a:endParaRPr lang="en-IN" sz="2800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F96197-CB58-9C40-7BDF-E4491EFE91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02853" y="719137"/>
                <a:ext cx="10900568" cy="5313801"/>
              </a:xfrm>
              <a:blipFill>
                <a:blip r:embed="rId2"/>
                <a:stretch>
                  <a:fillRect l="-1119" t="-803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08AAC89E-F454-8B72-668A-39BE958422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7285" y="1405467"/>
            <a:ext cx="7826829" cy="113054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D8C7033-AB12-7B53-82BD-D9E8C775B3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7285" y="3222339"/>
            <a:ext cx="7826829" cy="1356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296477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D65B9C-B3C6-0030-34CB-577ACCC6A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7B615E-0C11-840D-5C7C-5CD5AF9736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2853" y="719137"/>
            <a:ext cx="10900568" cy="53138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Why the word “</a:t>
            </a:r>
            <a:r>
              <a:rPr lang="en-US" sz="2400" b="1" dirty="0">
                <a:solidFill>
                  <a:srgbClr val="C00000"/>
                </a:solidFill>
              </a:rPr>
              <a:t>roots</a:t>
            </a:r>
            <a:r>
              <a:rPr lang="en-US" sz="2400" b="1" dirty="0"/>
              <a:t>”?</a:t>
            </a:r>
          </a:p>
          <a:p>
            <a:r>
              <a:rPr lang="en-US" sz="2400" dirty="0"/>
              <a:t>The word </a:t>
            </a:r>
            <a:r>
              <a:rPr lang="en-US" sz="2400" b="1" dirty="0"/>
              <a:t>“root”</a:t>
            </a:r>
            <a:r>
              <a:rPr lang="en-US" sz="2400" dirty="0"/>
              <a:t> in mathematics comes from the idea of a </a:t>
            </a:r>
            <a:r>
              <a:rPr lang="en-US" sz="2400" b="1" dirty="0"/>
              <a:t>foundation</a:t>
            </a:r>
            <a:r>
              <a:rPr lang="en-US" sz="2400" dirty="0"/>
              <a:t> —</a:t>
            </a:r>
            <a:br>
              <a:rPr lang="en-US" sz="2400" dirty="0"/>
            </a:br>
            <a:r>
              <a:rPr lang="en-US" sz="2400" dirty="0"/>
              <a:t>just like the roots of a tree are the base or starting point of its growth.</a:t>
            </a:r>
          </a:p>
          <a:p>
            <a:r>
              <a:rPr lang="en-US" sz="2400" dirty="0"/>
              <a:t>In equations, a </a:t>
            </a:r>
            <a:r>
              <a:rPr lang="en-US" sz="2400" b="1" dirty="0"/>
              <a:t>root</a:t>
            </a:r>
            <a:r>
              <a:rPr lang="en-US" sz="2400" dirty="0"/>
              <a:t> is the </a:t>
            </a:r>
            <a:r>
              <a:rPr lang="en-US" sz="2400" b="1" dirty="0"/>
              <a:t>value of x</a:t>
            </a:r>
            <a:r>
              <a:rPr lang="en-US" sz="2400" dirty="0"/>
              <a:t> that makes the equation become </a:t>
            </a:r>
            <a:r>
              <a:rPr lang="en-US" sz="2400" b="1" dirty="0"/>
              <a:t>zero</a:t>
            </a:r>
            <a:r>
              <a:rPr lang="en-US" sz="2400" dirty="0"/>
              <a:t> —</a:t>
            </a:r>
            <a:br>
              <a:rPr lang="en-US" sz="2400" dirty="0"/>
            </a:br>
            <a:r>
              <a:rPr lang="en-US" sz="2400" dirty="0"/>
              <a:t>the point where the expression “starts” or “balances”.</a:t>
            </a:r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9586890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7A0E4-F91D-8CA0-0851-115A07C44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29518F-34FF-6656-BA2A-57589BD4EF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2853" y="587829"/>
            <a:ext cx="10900568" cy="54451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800" b="1" dirty="0"/>
              <a:t>Approach:</a:t>
            </a:r>
          </a:p>
          <a:p>
            <a:r>
              <a:rPr lang="en-US" sz="2800" dirty="0"/>
              <a:t>When a quadratic equation is like:</a:t>
            </a:r>
          </a:p>
          <a:p>
            <a:endParaRPr lang="en-US" sz="2800" dirty="0"/>
          </a:p>
          <a:p>
            <a:endParaRPr lang="en-US" sz="2800" dirty="0"/>
          </a:p>
          <a:p>
            <a:endParaRPr lang="en-IN" sz="2800" dirty="0"/>
          </a:p>
          <a:p>
            <a:r>
              <a:rPr lang="en-IN" sz="2800" dirty="0"/>
              <a:t>We calculate the </a:t>
            </a:r>
            <a:r>
              <a:rPr lang="en-IN" sz="2800" b="1" dirty="0">
                <a:solidFill>
                  <a:srgbClr val="C00000"/>
                </a:solidFill>
              </a:rPr>
              <a:t>discriminant</a:t>
            </a:r>
            <a:r>
              <a:rPr lang="en-IN" sz="2800" dirty="0"/>
              <a:t>:</a:t>
            </a:r>
          </a:p>
          <a:p>
            <a:endParaRPr lang="en-IN" sz="2800" dirty="0"/>
          </a:p>
          <a:p>
            <a:endParaRPr lang="en-IN" sz="2800" dirty="0"/>
          </a:p>
          <a:p>
            <a:pPr marL="0" indent="0">
              <a:buNone/>
            </a:pPr>
            <a:endParaRPr lang="en-IN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IN" sz="2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1776361-53E1-6BB3-3F5A-16AC649BBE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1736" y="1965500"/>
            <a:ext cx="3443751" cy="79471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4CD238C-197D-6A95-400C-EEA02B1644A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2307"/>
          <a:stretch>
            <a:fillRect/>
          </a:stretch>
        </p:blipFill>
        <p:spPr>
          <a:xfrm>
            <a:off x="3041429" y="4201885"/>
            <a:ext cx="3294058" cy="760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812033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EA06EE-B07E-DFA1-F64D-F40AA869C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40CA320-4857-1823-2E9C-24AC9E1C5D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02853" y="719137"/>
                <a:ext cx="10900568" cy="5313801"/>
              </a:xfrm>
            </p:spPr>
            <p:txBody>
              <a:bodyPr>
                <a:normAutofit/>
              </a:bodyPr>
              <a:lstStyle/>
              <a:p>
                <a:r>
                  <a:rPr lang="en-US" sz="2400" b="1" dirty="0"/>
                  <a:t>The meaning of discriminant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sz="2400" b="1" dirty="0"/>
                  <a:t>:</a:t>
                </a:r>
              </a:p>
              <a:p>
                <a:pPr lvl="1"/>
                <a:r>
                  <a:rPr lang="en-US" sz="2400" b="1" dirty="0"/>
                  <a:t>D &gt; 0</a:t>
                </a:r>
                <a:r>
                  <a:rPr lang="en-US" sz="2400" dirty="0"/>
                  <a:t> → Two real and distinct roots</a:t>
                </a:r>
              </a:p>
              <a:p>
                <a:pPr lvl="1"/>
                <a:r>
                  <a:rPr lang="en-US" sz="2400" b="1" dirty="0"/>
                  <a:t>D = 0</a:t>
                </a:r>
                <a:r>
                  <a:rPr lang="en-US" sz="2400" dirty="0"/>
                  <a:t> → Two real and equal roots</a:t>
                </a:r>
              </a:p>
              <a:p>
                <a:pPr lvl="1"/>
                <a:r>
                  <a:rPr lang="en-US" sz="2400" b="1" dirty="0"/>
                  <a:t>D &lt; 0</a:t>
                </a:r>
                <a:r>
                  <a:rPr lang="en-US" sz="2400" dirty="0"/>
                  <a:t> → </a:t>
                </a:r>
                <a:r>
                  <a:rPr lang="en-US" sz="2400" b="1" dirty="0"/>
                  <a:t>No real roots exist</a:t>
                </a:r>
                <a:endParaRPr lang="en-US" sz="2400" dirty="0"/>
              </a:p>
              <a:p>
                <a:endParaRPr lang="en-US" sz="2400" dirty="0"/>
              </a:p>
              <a:p>
                <a:r>
                  <a:rPr lang="en-US" sz="2400" dirty="0"/>
                  <a:t>So, </a:t>
                </a:r>
                <a:r>
                  <a:rPr lang="en-US" sz="2400" b="1" dirty="0"/>
                  <a:t>“No real roots exist”</a:t>
                </a:r>
                <a:r>
                  <a:rPr lang="en-US" sz="2400" dirty="0"/>
                  <a:t> means:</a:t>
                </a:r>
              </a:p>
              <a:p>
                <a:pPr lvl="1"/>
                <a:r>
                  <a:rPr lang="en-US" sz="2400" dirty="0"/>
                  <a:t>There is </a:t>
                </a:r>
                <a:r>
                  <a:rPr lang="en-US" sz="2400" b="1" dirty="0"/>
                  <a:t>no value of x</a:t>
                </a:r>
                <a:r>
                  <a:rPr lang="en-US" sz="2400" dirty="0"/>
                  <a:t> that makes the equation equal to 0 </a:t>
                </a:r>
                <a:r>
                  <a:rPr lang="en-US" sz="2400" b="1" dirty="0"/>
                  <a:t>using real numbers</a:t>
                </a:r>
                <a:r>
                  <a:rPr lang="en-US" sz="2400" dirty="0"/>
                  <a:t>.</a:t>
                </a:r>
              </a:p>
              <a:p>
                <a:pPr lvl="1"/>
                <a:r>
                  <a:rPr lang="en-US" sz="2400" dirty="0"/>
                  <a:t>The roots in this case are </a:t>
                </a:r>
                <a:r>
                  <a:rPr lang="en-US" sz="2400" b="1" dirty="0"/>
                  <a:t>complex or imaginary numbers</a:t>
                </a:r>
                <a:r>
                  <a:rPr lang="en-US" sz="2400" dirty="0"/>
                  <a:t>.</a:t>
                </a:r>
              </a:p>
              <a:p>
                <a:pPr marL="0" indent="0">
                  <a:buNone/>
                </a:pPr>
                <a:endParaRPr lang="en-IN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40CA320-4857-1823-2E9C-24AC9E1C5D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02853" y="719137"/>
                <a:ext cx="10900568" cy="5313801"/>
              </a:xfrm>
              <a:blipFill>
                <a:blip r:embed="rId2"/>
                <a:stretch>
                  <a:fillRect l="-727" t="-160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24819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12D64-4555-5047-D762-18C056BA9C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F382B1-5B82-EE2F-D400-4B2B2C47E6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2853" y="446315"/>
            <a:ext cx="10900568" cy="55866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Test Case-1:</a:t>
            </a:r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r>
              <a:rPr lang="en-IN" sz="2400" b="1" dirty="0"/>
              <a:t>Test Case-2:</a:t>
            </a:r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r>
              <a:rPr lang="en-IN" sz="2400" b="1" dirty="0"/>
              <a:t>Test Case-3:</a:t>
            </a:r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ABCDF41-A3BB-ED56-9AC2-9B4DE5A642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1948" y="446315"/>
            <a:ext cx="6688104" cy="167816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4F9034B-6AEC-4A50-F7A9-0A99CBFDD3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771" y="2781944"/>
            <a:ext cx="6875299" cy="167971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D9EB034-DFEB-7282-AE16-F5FA60F01B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3091" y="4925971"/>
            <a:ext cx="7866667" cy="1485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214583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812616-CE8C-8059-B9D1-72630AD5FD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1CD7D9-151C-9F32-8BF5-828F4723B7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5716" y="1381359"/>
            <a:ext cx="10900568" cy="4095281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IN" sz="6000" b="1" dirty="0">
                <a:solidFill>
                  <a:srgbClr val="C00000"/>
                </a:solidFill>
                <a:latin typeface="+mj-lt"/>
              </a:rPr>
              <a:t>Program-3: </a:t>
            </a:r>
            <a:r>
              <a:rPr lang="en-IN" sz="6000" b="1" dirty="0">
                <a:latin typeface="+mj-lt"/>
              </a:rPr>
              <a:t>Develop a Program to Find whether a given number is </a:t>
            </a:r>
            <a:r>
              <a:rPr lang="en-IN" sz="60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+mj-lt"/>
              </a:rPr>
              <a:t>Prime</a:t>
            </a:r>
            <a:r>
              <a:rPr lang="en-IN" sz="6000" b="1" dirty="0">
                <a:latin typeface="+mj-lt"/>
              </a:rPr>
              <a:t> or Not</a:t>
            </a:r>
            <a:endParaRPr lang="en-IN" sz="6000" b="1" dirty="0">
              <a:solidFill>
                <a:schemeClr val="tx2">
                  <a:lumMod val="75000"/>
                  <a:lumOff val="2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40319925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ED083-FA09-3FA8-1EBE-39A5976A7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3F6206-825E-2C99-9B55-01DEE15418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2853" y="1088571"/>
            <a:ext cx="10900568" cy="494436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What is a Prime Number?</a:t>
            </a:r>
          </a:p>
          <a:p>
            <a:r>
              <a:rPr lang="en-US" sz="2800" dirty="0"/>
              <a:t>A </a:t>
            </a:r>
            <a:r>
              <a:rPr lang="en-US" sz="2800" b="1" dirty="0"/>
              <a:t>prime number</a:t>
            </a:r>
            <a:r>
              <a:rPr lang="en-US" sz="2800" dirty="0"/>
              <a:t> is a </a:t>
            </a:r>
            <a:r>
              <a:rPr lang="en-US" sz="2800" b="1" dirty="0"/>
              <a:t>natural number greater than 1</a:t>
            </a:r>
            <a:r>
              <a:rPr lang="en-US" sz="2800" dirty="0"/>
              <a:t> that has </a:t>
            </a:r>
            <a:r>
              <a:rPr lang="en-US" sz="2800" b="1" dirty="0"/>
              <a:t>only two factors</a:t>
            </a:r>
            <a:r>
              <a:rPr lang="en-US" sz="2800" dirty="0"/>
              <a:t>:</a:t>
            </a:r>
          </a:p>
          <a:p>
            <a:pPr lvl="1"/>
            <a:r>
              <a:rPr lang="en-US" sz="2800" b="1" dirty="0"/>
              <a:t>1</a:t>
            </a:r>
            <a:r>
              <a:rPr lang="en-US" sz="2800" dirty="0"/>
              <a:t> and</a:t>
            </a:r>
          </a:p>
          <a:p>
            <a:pPr lvl="1"/>
            <a:r>
              <a:rPr lang="en-US" sz="2800" b="1" dirty="0"/>
              <a:t>the number itself</a:t>
            </a:r>
            <a:endParaRPr lang="en-US" sz="28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2800" b="1" dirty="0"/>
              <a:t>👉 In simple words:</a:t>
            </a:r>
          </a:p>
          <a:p>
            <a:r>
              <a:rPr lang="en-US" sz="2400" dirty="0"/>
              <a:t>A prime number can be </a:t>
            </a:r>
            <a:r>
              <a:rPr lang="en-US" sz="2400" b="1" dirty="0"/>
              <a:t>divided evenly only by 1 and itself</a:t>
            </a:r>
            <a:r>
              <a:rPr lang="en-US" sz="2400" dirty="0"/>
              <a:t> — no other number should divide it.</a:t>
            </a:r>
          </a:p>
          <a:p>
            <a:r>
              <a:rPr lang="en-US" sz="2400" dirty="0"/>
              <a:t>When we say </a:t>
            </a:r>
            <a:r>
              <a:rPr lang="en-US" sz="2400" b="1" dirty="0"/>
              <a:t>“a number divides another number evenly”</a:t>
            </a:r>
            <a:r>
              <a:rPr lang="en-US" sz="2400" dirty="0"/>
              <a:t>, it means the </a:t>
            </a:r>
            <a:r>
              <a:rPr lang="en-US" sz="2400" b="1" dirty="0"/>
              <a:t>remainder is 0</a:t>
            </a:r>
            <a:r>
              <a:rPr lang="en-US" sz="2400" dirty="0"/>
              <a:t> after division.</a:t>
            </a:r>
          </a:p>
        </p:txBody>
      </p:sp>
    </p:spTree>
    <p:extLst>
      <p:ext uri="{BB962C8B-B14F-4D97-AF65-F5344CB8AC3E}">
        <p14:creationId xmlns:p14="http://schemas.microsoft.com/office/powerpoint/2010/main" val="2880916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A71C2-C881-A106-7755-EA67A96CA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3E7C00-1568-19F8-6782-CE1388A11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2853" y="719137"/>
            <a:ext cx="10900568" cy="53138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Examples of Prime Numbers:</a:t>
            </a:r>
          </a:p>
          <a:p>
            <a:pPr marL="0" indent="0">
              <a:buNone/>
            </a:pPr>
            <a:endParaRPr lang="en-IN" sz="2400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BB528A29-1138-AA04-EA14-94547C96EC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9531361"/>
              </p:ext>
            </p:extLst>
          </p:nvPr>
        </p:nvGraphicFramePr>
        <p:xfrm>
          <a:off x="1164771" y="1502229"/>
          <a:ext cx="8991600" cy="4038601"/>
        </p:xfrm>
        <a:graphic>
          <a:graphicData uri="http://schemas.openxmlformats.org/drawingml/2006/table">
            <a:tbl>
              <a:tblPr/>
              <a:tblGrid>
                <a:gridCol w="1992086">
                  <a:extLst>
                    <a:ext uri="{9D8B030D-6E8A-4147-A177-3AD203B41FA5}">
                      <a16:colId xmlns:a16="http://schemas.microsoft.com/office/drawing/2014/main" val="24811697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4184596746"/>
                    </a:ext>
                  </a:extLst>
                </a:gridCol>
                <a:gridCol w="4561114">
                  <a:extLst>
                    <a:ext uri="{9D8B030D-6E8A-4147-A177-3AD203B41FA5}">
                      <a16:colId xmlns:a16="http://schemas.microsoft.com/office/drawing/2014/main" val="2439039753"/>
                    </a:ext>
                  </a:extLst>
                </a:gridCol>
              </a:tblGrid>
              <a:tr h="528415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>
                          <a:effectLst/>
                          <a:latin typeface="Aptos" panose="020B0004020202020204" pitchFamily="34" charset="0"/>
                        </a:rPr>
                        <a:t>Number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>
                          <a:effectLst/>
                          <a:latin typeface="Aptos" panose="020B0004020202020204" pitchFamily="34" charset="0"/>
                        </a:rPr>
                        <a:t>Divisible By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>
                          <a:effectLst/>
                          <a:latin typeface="Aptos" panose="020B0004020202020204" pitchFamily="34" charset="0"/>
                        </a:rPr>
                        <a:t>Prime or Not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9724248"/>
                  </a:ext>
                </a:extLst>
              </a:tr>
              <a:tr h="528415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>
                          <a:effectLst/>
                          <a:latin typeface="Aptos" panose="020B000402020202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>
                          <a:effectLst/>
                          <a:latin typeface="Aptos" panose="020B0004020202020204" pitchFamily="34" charset="0"/>
                        </a:rPr>
                        <a:t>1, 2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Prime</a:t>
                      </a:r>
                      <a:endParaRPr lang="en-IN" sz="2400" dirty="0">
                        <a:effectLst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663569"/>
                  </a:ext>
                </a:extLst>
              </a:tr>
              <a:tr h="528415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>
                          <a:effectLst/>
                          <a:latin typeface="Aptos" panose="020B0004020202020204" pitchFamily="34" charset="0"/>
                        </a:rPr>
                        <a:t>3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>
                          <a:effectLst/>
                          <a:latin typeface="Aptos" panose="020B0004020202020204" pitchFamily="34" charset="0"/>
                        </a:rPr>
                        <a:t>1, 3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Prime</a:t>
                      </a:r>
                      <a:endParaRPr lang="en-IN" sz="2400" dirty="0">
                        <a:effectLst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4537535"/>
                  </a:ext>
                </a:extLst>
              </a:tr>
              <a:tr h="528415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4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>
                          <a:effectLst/>
                          <a:latin typeface="Aptos" panose="020B0004020202020204" pitchFamily="34" charset="0"/>
                        </a:rPr>
                        <a:t>1, 2, 4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Not Prime (divisible by 2)</a:t>
                      </a:r>
                      <a:endParaRPr lang="en-IN" sz="2400" dirty="0">
                        <a:effectLst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6800177"/>
                  </a:ext>
                </a:extLst>
              </a:tr>
              <a:tr h="528415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>
                          <a:effectLst/>
                          <a:latin typeface="Aptos" panose="020B0004020202020204" pitchFamily="34" charset="0"/>
                        </a:rPr>
                        <a:t>5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>
                          <a:effectLst/>
                          <a:latin typeface="Aptos" panose="020B0004020202020204" pitchFamily="34" charset="0"/>
                        </a:rPr>
                        <a:t>1, 5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Prime</a:t>
                      </a:r>
                      <a:endParaRPr lang="en-IN" sz="2400" dirty="0">
                        <a:effectLst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7601392"/>
                  </a:ext>
                </a:extLst>
              </a:tr>
              <a:tr h="868111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>
                          <a:effectLst/>
                          <a:latin typeface="Aptos" panose="020B0004020202020204" pitchFamily="34" charset="0"/>
                        </a:rPr>
                        <a:t>6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>
                          <a:effectLst/>
                          <a:latin typeface="Aptos" panose="020B0004020202020204" pitchFamily="34" charset="0"/>
                        </a:rPr>
                        <a:t>1, 2, 3, 6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Not Prime (divisible by 2 and 3)</a:t>
                      </a:r>
                      <a:endParaRPr lang="en-IN" sz="2400" dirty="0">
                        <a:effectLst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7471431"/>
                  </a:ext>
                </a:extLst>
              </a:tr>
              <a:tr h="528415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>
                          <a:effectLst/>
                          <a:latin typeface="Aptos" panose="020B0004020202020204" pitchFamily="34" charset="0"/>
                        </a:rPr>
                        <a:t>7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>
                          <a:effectLst/>
                          <a:latin typeface="Aptos" panose="020B0004020202020204" pitchFamily="34" charset="0"/>
                        </a:rPr>
                        <a:t>1, 7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Prime</a:t>
                      </a:r>
                      <a:endParaRPr lang="en-IN" sz="2400" dirty="0">
                        <a:effectLst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1912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4727623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C13F2-D43C-03E1-A013-FFB3AD423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5E74A6-13F9-C913-B52F-3569A35449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2853" y="979714"/>
            <a:ext cx="10900568" cy="50532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Approach</a:t>
            </a:r>
          </a:p>
          <a:p>
            <a:r>
              <a:rPr lang="en-US" sz="2400" dirty="0"/>
              <a:t>Let’s say the user enters a number — for example, num = 7.</a:t>
            </a:r>
          </a:p>
          <a:p>
            <a:endParaRPr lang="en-US" sz="1800" b="1" dirty="0"/>
          </a:p>
          <a:p>
            <a:pPr marL="0" indent="0">
              <a:buNone/>
            </a:pPr>
            <a:r>
              <a:rPr lang="en-US" sz="2400" b="1" dirty="0"/>
              <a:t>Step-by-step logic:</a:t>
            </a:r>
          </a:p>
          <a:p>
            <a:r>
              <a:rPr lang="en-US" sz="2400" dirty="0"/>
              <a:t>If num &lt;= 1 → it’s </a:t>
            </a:r>
            <a:r>
              <a:rPr lang="en-US" sz="2400" b="1" dirty="0"/>
              <a:t>not prime</a:t>
            </a:r>
            <a:r>
              <a:rPr lang="en-US" sz="2400" dirty="0"/>
              <a:t>. (Because 0 and 1 are not prime by definition.)</a:t>
            </a:r>
          </a:p>
          <a:p>
            <a:r>
              <a:rPr lang="en-US" sz="2400" dirty="0"/>
              <a:t>Start </a:t>
            </a:r>
            <a:r>
              <a:rPr lang="en-US" sz="2400" b="1" dirty="0">
                <a:solidFill>
                  <a:srgbClr val="C00000"/>
                </a:solidFill>
              </a:rPr>
              <a:t>dividing num </a:t>
            </a:r>
            <a:r>
              <a:rPr lang="en-US" sz="2400" dirty="0"/>
              <a:t>by all numbers </a:t>
            </a:r>
            <a:r>
              <a:rPr lang="en-US" sz="2400" b="1" dirty="0"/>
              <a:t>from </a:t>
            </a:r>
            <a:r>
              <a:rPr lang="en-US" sz="2400" b="1" dirty="0">
                <a:solidFill>
                  <a:srgbClr val="C00000"/>
                </a:solidFill>
              </a:rPr>
              <a:t>2</a:t>
            </a:r>
            <a:r>
              <a:rPr lang="en-US" sz="2400" b="1" dirty="0"/>
              <a:t> up to </a:t>
            </a:r>
            <a:r>
              <a:rPr lang="en-US" sz="2400" b="1" dirty="0">
                <a:solidFill>
                  <a:srgbClr val="C00000"/>
                </a:solidFill>
              </a:rPr>
              <a:t>num - 1</a:t>
            </a:r>
            <a:r>
              <a:rPr lang="en-US" sz="2400" dirty="0"/>
              <a:t>.</a:t>
            </a:r>
          </a:p>
          <a:p>
            <a:pPr lvl="1"/>
            <a:r>
              <a:rPr lang="en-US" sz="2400" dirty="0"/>
              <a:t>If </a:t>
            </a:r>
            <a:r>
              <a:rPr lang="en-US" sz="2400" b="1" dirty="0"/>
              <a:t>any number divides num completely </a:t>
            </a:r>
            <a:r>
              <a:rPr lang="en-US" sz="2400" dirty="0"/>
              <a:t>(num % </a:t>
            </a:r>
            <a:r>
              <a:rPr lang="en-US" sz="2400" dirty="0" err="1"/>
              <a:t>i</a:t>
            </a:r>
            <a:r>
              <a:rPr lang="en-US" sz="2400" dirty="0"/>
              <a:t> == 0), it means it has a factor other than 1 and itself → </a:t>
            </a:r>
            <a:r>
              <a:rPr lang="en-US" sz="2400" b="1" dirty="0"/>
              <a:t>not prime</a:t>
            </a:r>
            <a:r>
              <a:rPr lang="en-US" sz="2400" dirty="0"/>
              <a:t>.</a:t>
            </a:r>
          </a:p>
          <a:p>
            <a:pPr lvl="1"/>
            <a:r>
              <a:rPr lang="en-US" sz="2400" dirty="0"/>
              <a:t>If none divide it, then it’s </a:t>
            </a:r>
            <a:r>
              <a:rPr lang="en-US" sz="2400" b="1" dirty="0"/>
              <a:t>prime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6043194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67BA99-1D14-7BC0-695F-3F32880036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995EFA-744D-55F6-554A-A0C7A61CD2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2853" y="719137"/>
            <a:ext cx="10900568" cy="53138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Example Walkthrough:</a:t>
            </a:r>
          </a:p>
          <a:p>
            <a:r>
              <a:rPr lang="en-US" sz="2400" dirty="0"/>
              <a:t>For </a:t>
            </a:r>
            <a:r>
              <a:rPr lang="en-US" dirty="0"/>
              <a:t>num = 7</a:t>
            </a:r>
            <a:br>
              <a:rPr lang="en-US" sz="2400" dirty="0"/>
            </a:br>
            <a:r>
              <a:rPr lang="en-US" sz="2400" dirty="0"/>
              <a:t>Check divisibility:</a:t>
            </a:r>
          </a:p>
          <a:p>
            <a:r>
              <a:rPr lang="en-US" sz="2400" dirty="0"/>
              <a:t>7 % 2 = 1 → not divisible</a:t>
            </a:r>
          </a:p>
          <a:p>
            <a:r>
              <a:rPr lang="en-US" sz="2400" dirty="0"/>
              <a:t>7 % 3 = 1 → not divisible</a:t>
            </a:r>
          </a:p>
          <a:p>
            <a:r>
              <a:rPr lang="en-US" sz="2400" dirty="0"/>
              <a:t>7 % 4 = 3 → not divisible</a:t>
            </a:r>
          </a:p>
          <a:p>
            <a:r>
              <a:rPr lang="en-US" sz="2400" dirty="0"/>
              <a:t>7 % 5 = 2 → not divisible</a:t>
            </a:r>
          </a:p>
          <a:p>
            <a:r>
              <a:rPr lang="en-US" sz="2400" dirty="0"/>
              <a:t>7 % 6 = 1 → not divisible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Since no number divides it evenly, </a:t>
            </a:r>
            <a:r>
              <a:rPr lang="en-US" sz="2400" b="1" dirty="0"/>
              <a:t>7 </a:t>
            </a:r>
            <a:r>
              <a:rPr lang="en-US" sz="2400" b="1" dirty="0">
                <a:solidFill>
                  <a:srgbClr val="C00000"/>
                </a:solidFill>
              </a:rPr>
              <a:t>is a prime number</a:t>
            </a:r>
            <a:r>
              <a:rPr lang="en-US" sz="2400" dirty="0">
                <a:solidFill>
                  <a:srgbClr val="C00000"/>
                </a:solidFill>
              </a:rPr>
              <a:t> </a:t>
            </a:r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99828027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F8191-30AF-C566-0DE6-D2960F469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A6DE8C-771F-5F6F-FF4C-DA8ACE4022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5716" y="1463565"/>
            <a:ext cx="10900568" cy="314709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5400" b="1" dirty="0">
                <a:solidFill>
                  <a:schemeClr val="accent3">
                    <a:lumMod val="50000"/>
                  </a:schemeClr>
                </a:solidFill>
                <a:latin typeface="+mj-lt"/>
              </a:rPr>
              <a:t>Program-4</a:t>
            </a:r>
            <a:r>
              <a:rPr lang="en-US" sz="5400" b="1" dirty="0">
                <a:latin typeface="+mj-lt"/>
              </a:rPr>
              <a:t>: Develop a Program to find key elements in an array using </a:t>
            </a:r>
            <a:r>
              <a:rPr lang="en-US" sz="5400" b="1" dirty="0">
                <a:solidFill>
                  <a:srgbClr val="C00000"/>
                </a:solidFill>
                <a:latin typeface="+mj-lt"/>
              </a:rPr>
              <a:t>Linear Search</a:t>
            </a:r>
            <a:endParaRPr lang="en-IN" sz="5400" b="1" dirty="0">
              <a:solidFill>
                <a:srgbClr val="C00000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6990594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76FA78-9399-62F1-BB1A-660276536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CD9012-AB28-3A4A-DB3B-73949D7635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2853" y="719137"/>
            <a:ext cx="10900568" cy="5313801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b="1" dirty="0"/>
              <a:t>What is Linear Search?</a:t>
            </a:r>
          </a:p>
          <a:p>
            <a:r>
              <a:rPr lang="en-US" sz="2400" b="1" dirty="0"/>
              <a:t>Linear Search</a:t>
            </a:r>
            <a:r>
              <a:rPr lang="en-US" sz="2400" dirty="0"/>
              <a:t> is the simplest way to </a:t>
            </a:r>
            <a:r>
              <a:rPr lang="en-US" sz="2400" b="1" dirty="0">
                <a:solidFill>
                  <a:srgbClr val="C00000"/>
                </a:solidFill>
              </a:rPr>
              <a:t>find something in a list</a:t>
            </a:r>
            <a:r>
              <a:rPr lang="en-US" sz="2400" dirty="0"/>
              <a:t> or </a:t>
            </a:r>
            <a:r>
              <a:rPr lang="en-US" sz="2400" b="1" dirty="0">
                <a:solidFill>
                  <a:srgbClr val="C00000"/>
                </a:solidFill>
              </a:rPr>
              <a:t>an array</a:t>
            </a:r>
            <a:r>
              <a:rPr lang="en-US" sz="2400" dirty="0"/>
              <a:t>.</a:t>
            </a:r>
          </a:p>
          <a:p>
            <a:r>
              <a:rPr lang="en-US" sz="2400" dirty="0"/>
              <a:t>Imagine you have a list of numbers written on paper:</a:t>
            </a:r>
          </a:p>
          <a:p>
            <a:pPr marL="0" indent="0">
              <a:buNone/>
            </a:pPr>
            <a:endParaRPr lang="en-IN" sz="2400" dirty="0"/>
          </a:p>
          <a:p>
            <a:pPr marL="0" indent="0">
              <a:buNone/>
            </a:pPr>
            <a:endParaRPr lang="en-IN" sz="2400" dirty="0"/>
          </a:p>
          <a:p>
            <a:pPr marL="0" indent="0">
              <a:buNone/>
            </a:pPr>
            <a:endParaRPr lang="en-IN" sz="2400" dirty="0"/>
          </a:p>
          <a:p>
            <a:r>
              <a:rPr lang="en-US" sz="2400" dirty="0"/>
              <a:t>Now someone asks you: “Is the number 30 in the list?”</a:t>
            </a:r>
          </a:p>
          <a:p>
            <a:r>
              <a:rPr lang="en-US" sz="2400" dirty="0"/>
              <a:t>How would you check?</a:t>
            </a:r>
            <a:br>
              <a:rPr lang="en-US" sz="2400" dirty="0"/>
            </a:br>
            <a:r>
              <a:rPr lang="en-US" sz="2400" dirty="0"/>
              <a:t>You start from the first number and check one by one:</a:t>
            </a:r>
          </a:p>
          <a:p>
            <a:pPr lvl="1"/>
            <a:r>
              <a:rPr lang="en-US" sz="2200" dirty="0"/>
              <a:t>Is 10 equal to 30? ❌ No</a:t>
            </a:r>
          </a:p>
          <a:p>
            <a:pPr lvl="1"/>
            <a:r>
              <a:rPr lang="en-US" sz="2200" dirty="0"/>
              <a:t>Is 25 equal to 30? ❌ No</a:t>
            </a:r>
          </a:p>
          <a:p>
            <a:pPr lvl="1"/>
            <a:r>
              <a:rPr lang="en-US" sz="2200" dirty="0"/>
              <a:t>Is 30 equal to 30? ✅ Yes! Found it!</a:t>
            </a:r>
          </a:p>
          <a:p>
            <a:r>
              <a:rPr lang="en-US" sz="2400" dirty="0"/>
              <a:t>That’s exactly how </a:t>
            </a:r>
            <a:r>
              <a:rPr lang="en-US" sz="2400" b="1" dirty="0"/>
              <a:t>Linear Search</a:t>
            </a:r>
            <a:r>
              <a:rPr lang="en-US" sz="2400" dirty="0"/>
              <a:t> works.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FCC8337-3164-C788-CB6C-A6F6A25A05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1686" y="2204581"/>
            <a:ext cx="4072285" cy="722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461462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96B11D-5A46-9DA0-94D4-6922F71506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611EC9-6911-3800-6451-FB381E3327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2853" y="1023257"/>
            <a:ext cx="10900568" cy="500968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In simple terms:</a:t>
            </a:r>
          </a:p>
          <a:p>
            <a:r>
              <a:rPr lang="en-US" sz="2400" dirty="0"/>
              <a:t>You start from the </a:t>
            </a:r>
            <a:r>
              <a:rPr lang="en-US" sz="2400" b="1" dirty="0"/>
              <a:t>beginning</a:t>
            </a:r>
            <a:r>
              <a:rPr lang="en-US" sz="2400" dirty="0"/>
              <a:t> of the array.</a:t>
            </a:r>
          </a:p>
          <a:p>
            <a:r>
              <a:rPr lang="en-US" sz="2400" dirty="0"/>
              <a:t>Compare </a:t>
            </a:r>
            <a:r>
              <a:rPr lang="en-US" sz="2400" b="1" dirty="0"/>
              <a:t>each element</a:t>
            </a:r>
            <a:r>
              <a:rPr lang="en-US" sz="2400" dirty="0"/>
              <a:t> with the value you are looking for (called the </a:t>
            </a:r>
            <a:r>
              <a:rPr lang="en-US" sz="2400" b="1" dirty="0"/>
              <a:t>key</a:t>
            </a:r>
            <a:r>
              <a:rPr lang="en-US" sz="2400" dirty="0"/>
              <a:t>).</a:t>
            </a:r>
          </a:p>
          <a:p>
            <a:r>
              <a:rPr lang="en-US" sz="2400" dirty="0"/>
              <a:t>If you find it → stop and say “found”.</a:t>
            </a:r>
          </a:p>
          <a:p>
            <a:r>
              <a:rPr lang="en-US" sz="2400" dirty="0"/>
              <a:t>If you reach the end and don’t find it → say “not found”.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b="1" dirty="0"/>
              <a:t>Why is it called </a:t>
            </a:r>
            <a:r>
              <a:rPr lang="en-US" sz="2400" b="1" i="1" dirty="0"/>
              <a:t>Linear</a:t>
            </a:r>
            <a:r>
              <a:rPr lang="en-US" sz="2400" b="1" dirty="0"/>
              <a:t>?</a:t>
            </a:r>
          </a:p>
          <a:p>
            <a:r>
              <a:rPr lang="en-US" sz="2400" dirty="0"/>
              <a:t>Because you go </a:t>
            </a:r>
            <a:r>
              <a:rPr lang="en-US" sz="2400" b="1" dirty="0"/>
              <a:t>in a </a:t>
            </a:r>
            <a:r>
              <a:rPr lang="en-US" sz="2400" b="1" dirty="0">
                <a:solidFill>
                  <a:srgbClr val="C00000"/>
                </a:solidFill>
              </a:rPr>
              <a:t>straight line</a:t>
            </a:r>
            <a:r>
              <a:rPr lang="en-US" sz="2400" dirty="0"/>
              <a:t>, checking one item after another — no skipping or jumping.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24818043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987D73-8BFF-AE90-FF1C-1CED3C470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C19B41-65AE-9B0E-3458-9EFB31D7FC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2853" y="719137"/>
            <a:ext cx="10900568" cy="5313801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08895264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BCA7B-5F5B-15A3-3BBA-E4366EF0A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2E0365-A86F-7446-4E6B-2B59C5B29A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2853" y="719137"/>
            <a:ext cx="10900568" cy="5313801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003019002"/>
      </p:ext>
    </p:extLst>
  </p:cSld>
  <p:clrMapOvr>
    <a:masterClrMapping/>
  </p:clrMapOvr>
</p:sld>
</file>

<file path=ppt/theme/theme1.xml><?xml version="1.0" encoding="utf-8"?>
<a:theme xmlns:a="http://schemas.openxmlformats.org/drawingml/2006/main" name="ConfettiVTI">
  <a:themeElements>
    <a:clrScheme name="Custom 30">
      <a:dk1>
        <a:sysClr val="windowText" lastClr="000000"/>
      </a:dk1>
      <a:lt1>
        <a:sysClr val="window" lastClr="FFFFFF"/>
      </a:lt1>
      <a:dk2>
        <a:srgbClr val="420023"/>
      </a:dk2>
      <a:lt2>
        <a:srgbClr val="FDFBF9"/>
      </a:lt2>
      <a:accent1>
        <a:srgbClr val="97446E"/>
      </a:accent1>
      <a:accent2>
        <a:srgbClr val="A40056"/>
      </a:accent2>
      <a:accent3>
        <a:srgbClr val="24BEEE"/>
      </a:accent3>
      <a:accent4>
        <a:srgbClr val="91274F"/>
      </a:accent4>
      <a:accent5>
        <a:srgbClr val="F39E29"/>
      </a:accent5>
      <a:accent6>
        <a:srgbClr val="E87450"/>
      </a:accent6>
      <a:hlink>
        <a:srgbClr val="F55D5D"/>
      </a:hlink>
      <a:folHlink>
        <a:srgbClr val="EA3A60"/>
      </a:folHlink>
    </a:clrScheme>
    <a:fontScheme name="Custom 10">
      <a:majorFont>
        <a:latin typeface="Gill Sans Nova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nfettiVTI" id="{B5618F7C-B4F0-4D28-83B4-440D0519681F}" vid="{5F84EFDF-E14E-48C6-955C-990A32085A7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2172</TotalTime>
  <Words>1566</Words>
  <Application>Microsoft Office PowerPoint</Application>
  <PresentationFormat>Widescreen</PresentationFormat>
  <Paragraphs>256</Paragraphs>
  <Slides>35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2" baseType="lpstr">
      <vt:lpstr>Aptos</vt:lpstr>
      <vt:lpstr>Arial</vt:lpstr>
      <vt:lpstr>Calibri</vt:lpstr>
      <vt:lpstr>Cambria Math</vt:lpstr>
      <vt:lpstr>Courier New</vt:lpstr>
      <vt:lpstr>Gill Sans Nova</vt:lpstr>
      <vt:lpstr>ConfettiVTI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PRAMOD NAIK</dc:creator>
  <cp:lastModifiedBy>Pramod Naik</cp:lastModifiedBy>
  <cp:revision>459</cp:revision>
  <dcterms:created xsi:type="dcterms:W3CDTF">2024-11-25T17:19:06Z</dcterms:created>
  <dcterms:modified xsi:type="dcterms:W3CDTF">2025-11-28T18:21:22Z</dcterms:modified>
</cp:coreProperties>
</file>