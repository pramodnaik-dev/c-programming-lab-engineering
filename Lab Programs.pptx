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31"/>
  </p:notesMasterIdLst>
  <p:sldIdLst>
    <p:sldId id="418" r:id="rId2"/>
    <p:sldId id="499" r:id="rId3"/>
    <p:sldId id="500" r:id="rId4"/>
    <p:sldId id="523" r:id="rId5"/>
    <p:sldId id="524" r:id="rId6"/>
    <p:sldId id="525" r:id="rId7"/>
    <p:sldId id="526" r:id="rId8"/>
    <p:sldId id="522" r:id="rId9"/>
    <p:sldId id="521" r:id="rId10"/>
    <p:sldId id="520" r:id="rId11"/>
    <p:sldId id="501" r:id="rId12"/>
    <p:sldId id="502" r:id="rId13"/>
    <p:sldId id="503" r:id="rId14"/>
    <p:sldId id="504" r:id="rId15"/>
    <p:sldId id="505" r:id="rId16"/>
    <p:sldId id="506" r:id="rId17"/>
    <p:sldId id="508" r:id="rId18"/>
    <p:sldId id="509" r:id="rId19"/>
    <p:sldId id="507" r:id="rId20"/>
    <p:sldId id="514" r:id="rId21"/>
    <p:sldId id="510" r:id="rId22"/>
    <p:sldId id="511" r:id="rId23"/>
    <p:sldId id="512" r:id="rId24"/>
    <p:sldId id="513" r:id="rId25"/>
    <p:sldId id="519" r:id="rId26"/>
    <p:sldId id="516" r:id="rId27"/>
    <p:sldId id="517" r:id="rId28"/>
    <p:sldId id="518" r:id="rId29"/>
    <p:sldId id="51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1E189-9CBC-4E80-A29D-FE55FB48779C}" v="18" dt="2025-11-26T19:45:56.1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 Naik" userId="ceb6df04-ef15-4d9b-a141-998a03559d75" providerId="ADAL" clId="{62E9B5AE-779D-4001-92D3-8FF830A8A9C1}"/>
    <pc:docChg chg="undo custSel addSld delSld modSld sldOrd">
      <pc:chgData name="Pramod Naik" userId="ceb6df04-ef15-4d9b-a141-998a03559d75" providerId="ADAL" clId="{62E9B5AE-779D-4001-92D3-8FF830A8A9C1}" dt="2025-11-26T19:46:46.703" v="377" actId="47"/>
      <pc:docMkLst>
        <pc:docMk/>
      </pc:docMkLst>
      <pc:sldChg chg="modSp mod">
        <pc:chgData name="Pramod Naik" userId="ceb6df04-ef15-4d9b-a141-998a03559d75" providerId="ADAL" clId="{62E9B5AE-779D-4001-92D3-8FF830A8A9C1}" dt="2025-11-26T19:35:41.822" v="231" actId="108"/>
        <pc:sldMkLst>
          <pc:docMk/>
          <pc:sldMk cId="900395705" sldId="500"/>
        </pc:sldMkLst>
        <pc:spChg chg="mod">
          <ac:chgData name="Pramod Naik" userId="ceb6df04-ef15-4d9b-a141-998a03559d75" providerId="ADAL" clId="{62E9B5AE-779D-4001-92D3-8FF830A8A9C1}" dt="2025-11-26T19:35:41.822" v="231" actId="108"/>
          <ac:spMkLst>
            <pc:docMk/>
            <pc:sldMk cId="900395705" sldId="500"/>
            <ac:spMk id="3" creationId="{38A9A654-5603-C7C9-966E-753272CC1F3B}"/>
          </ac:spMkLst>
        </pc:spChg>
      </pc:sldChg>
      <pc:sldChg chg="add">
        <pc:chgData name="Pramod Naik" userId="ceb6df04-ef15-4d9b-a141-998a03559d75" providerId="ADAL" clId="{62E9B5AE-779D-4001-92D3-8FF830A8A9C1}" dt="2025-11-12T17:43:49.065" v="163"/>
        <pc:sldMkLst>
          <pc:docMk/>
          <pc:sldMk cId="3556443946" sldId="520"/>
        </pc:sldMkLst>
      </pc:sldChg>
      <pc:sldChg chg="addSp delSp modSp new mod">
        <pc:chgData name="Pramod Naik" userId="ceb6df04-ef15-4d9b-a141-998a03559d75" providerId="ADAL" clId="{62E9B5AE-779D-4001-92D3-8FF830A8A9C1}" dt="2025-11-12T17:49:13.273" v="217" actId="403"/>
        <pc:sldMkLst>
          <pc:docMk/>
          <pc:sldMk cId="1609763764" sldId="521"/>
        </pc:sldMkLst>
        <pc:spChg chg="mod">
          <ac:chgData name="Pramod Naik" userId="ceb6df04-ef15-4d9b-a141-998a03559d75" providerId="ADAL" clId="{62E9B5AE-779D-4001-92D3-8FF830A8A9C1}" dt="2025-11-12T17:49:13.273" v="217" actId="403"/>
          <ac:spMkLst>
            <pc:docMk/>
            <pc:sldMk cId="1609763764" sldId="521"/>
            <ac:spMk id="3" creationId="{FF825371-62D4-E5FE-2A67-AC368A38F1BD}"/>
          </ac:spMkLst>
        </pc:spChg>
        <pc:picChg chg="add mod">
          <ac:chgData name="Pramod Naik" userId="ceb6df04-ef15-4d9b-a141-998a03559d75" providerId="ADAL" clId="{62E9B5AE-779D-4001-92D3-8FF830A8A9C1}" dt="2025-11-12T17:49:10.335" v="216" actId="1076"/>
          <ac:picMkLst>
            <pc:docMk/>
            <pc:sldMk cId="1609763764" sldId="521"/>
            <ac:picMk id="5" creationId="{B6D131BE-FD71-8C8E-A1B3-C035777DBD99}"/>
          </ac:picMkLst>
        </pc:picChg>
      </pc:sldChg>
      <pc:sldChg chg="add">
        <pc:chgData name="Pramod Naik" userId="ceb6df04-ef15-4d9b-a141-998a03559d75" providerId="ADAL" clId="{62E9B5AE-779D-4001-92D3-8FF830A8A9C1}" dt="2025-11-26T19:35:04.219" v="218"/>
        <pc:sldMkLst>
          <pc:docMk/>
          <pc:sldMk cId="2350706493" sldId="522"/>
        </pc:sldMkLst>
      </pc:sldChg>
      <pc:sldChg chg="addSp delSp modSp add mod">
        <pc:chgData name="Pramod Naik" userId="ceb6df04-ef15-4d9b-a141-998a03559d75" providerId="ADAL" clId="{62E9B5AE-779D-4001-92D3-8FF830A8A9C1}" dt="2025-11-26T19:41:12.076" v="268" actId="12"/>
        <pc:sldMkLst>
          <pc:docMk/>
          <pc:sldMk cId="2147554994" sldId="523"/>
        </pc:sldMkLst>
        <pc:spChg chg="mod">
          <ac:chgData name="Pramod Naik" userId="ceb6df04-ef15-4d9b-a141-998a03559d75" providerId="ADAL" clId="{62E9B5AE-779D-4001-92D3-8FF830A8A9C1}" dt="2025-11-26T19:41:12.076" v="268" actId="12"/>
          <ac:spMkLst>
            <pc:docMk/>
            <pc:sldMk cId="2147554994" sldId="523"/>
            <ac:spMk id="3" creationId="{C3ADC201-F9EC-B490-AE30-DB2AF5B8AFFC}"/>
          </ac:spMkLst>
        </pc:spChg>
        <pc:graphicFrameChg chg="add mod modGraphic">
          <ac:chgData name="Pramod Naik" userId="ceb6df04-ef15-4d9b-a141-998a03559d75" providerId="ADAL" clId="{62E9B5AE-779D-4001-92D3-8FF830A8A9C1}" dt="2025-11-26T19:40:01.512" v="253" actId="1076"/>
          <ac:graphicFrameMkLst>
            <pc:docMk/>
            <pc:sldMk cId="2147554994" sldId="523"/>
            <ac:graphicFrameMk id="2" creationId="{D440493D-7B73-F2DC-80F1-8791089B5021}"/>
          </ac:graphicFrameMkLst>
        </pc:graphicFrameChg>
        <pc:picChg chg="del">
          <ac:chgData name="Pramod Naik" userId="ceb6df04-ef15-4d9b-a141-998a03559d75" providerId="ADAL" clId="{62E9B5AE-779D-4001-92D3-8FF830A8A9C1}" dt="2025-11-26T19:35:55.816" v="234" actId="478"/>
          <ac:picMkLst>
            <pc:docMk/>
            <pc:sldMk cId="2147554994" sldId="523"/>
            <ac:picMk id="5" creationId="{F050ACA9-CC35-F98C-6105-78943775A933}"/>
          </ac:picMkLst>
        </pc:picChg>
      </pc:sldChg>
      <pc:sldChg chg="add del">
        <pc:chgData name="Pramod Naik" userId="ceb6df04-ef15-4d9b-a141-998a03559d75" providerId="ADAL" clId="{62E9B5AE-779D-4001-92D3-8FF830A8A9C1}" dt="2025-11-26T19:35:11.159" v="222"/>
        <pc:sldMkLst>
          <pc:docMk/>
          <pc:sldMk cId="2636913653" sldId="523"/>
        </pc:sldMkLst>
      </pc:sldChg>
      <pc:sldChg chg="addSp modSp add mod">
        <pc:chgData name="Pramod Naik" userId="ceb6df04-ef15-4d9b-a141-998a03559d75" providerId="ADAL" clId="{62E9B5AE-779D-4001-92D3-8FF830A8A9C1}" dt="2025-11-26T19:44:41.679" v="358" actId="207"/>
        <pc:sldMkLst>
          <pc:docMk/>
          <pc:sldMk cId="2001427130" sldId="524"/>
        </pc:sldMkLst>
        <pc:spChg chg="mod">
          <ac:chgData name="Pramod Naik" userId="ceb6df04-ef15-4d9b-a141-998a03559d75" providerId="ADAL" clId="{62E9B5AE-779D-4001-92D3-8FF830A8A9C1}" dt="2025-11-26T19:44:41.679" v="358" actId="207"/>
          <ac:spMkLst>
            <pc:docMk/>
            <pc:sldMk cId="2001427130" sldId="524"/>
            <ac:spMk id="3" creationId="{CA4A09BB-B4CE-D1C0-E044-7558B2B86BD8}"/>
          </ac:spMkLst>
        </pc:spChg>
        <pc:graphicFrameChg chg="add mod modGraphic">
          <ac:chgData name="Pramod Naik" userId="ceb6df04-ef15-4d9b-a141-998a03559d75" providerId="ADAL" clId="{62E9B5AE-779D-4001-92D3-8FF830A8A9C1}" dt="2025-11-26T19:44:32.719" v="357" actId="20577"/>
          <ac:graphicFrameMkLst>
            <pc:docMk/>
            <pc:sldMk cId="2001427130" sldId="524"/>
            <ac:graphicFrameMk id="2" creationId="{C43A4964-5BE4-3000-767B-3936F392E456}"/>
          </ac:graphicFrameMkLst>
        </pc:graphicFrameChg>
      </pc:sldChg>
      <pc:sldChg chg="addSp modSp add mod">
        <pc:chgData name="Pramod Naik" userId="ceb6df04-ef15-4d9b-a141-998a03559d75" providerId="ADAL" clId="{62E9B5AE-779D-4001-92D3-8FF830A8A9C1}" dt="2025-11-26T19:46:17.035" v="376" actId="14734"/>
        <pc:sldMkLst>
          <pc:docMk/>
          <pc:sldMk cId="3891866407" sldId="525"/>
        </pc:sldMkLst>
        <pc:spChg chg="mod">
          <ac:chgData name="Pramod Naik" userId="ceb6df04-ef15-4d9b-a141-998a03559d75" providerId="ADAL" clId="{62E9B5AE-779D-4001-92D3-8FF830A8A9C1}" dt="2025-11-26T19:46:00.349" v="365" actId="403"/>
          <ac:spMkLst>
            <pc:docMk/>
            <pc:sldMk cId="3891866407" sldId="525"/>
            <ac:spMk id="3" creationId="{69C8A5F8-41C9-4262-631D-3FD5BAA335E8}"/>
          </ac:spMkLst>
        </pc:spChg>
        <pc:graphicFrameChg chg="add mod modGraphic">
          <ac:chgData name="Pramod Naik" userId="ceb6df04-ef15-4d9b-a141-998a03559d75" providerId="ADAL" clId="{62E9B5AE-779D-4001-92D3-8FF830A8A9C1}" dt="2025-11-26T19:46:17.035" v="376" actId="14734"/>
          <ac:graphicFrameMkLst>
            <pc:docMk/>
            <pc:sldMk cId="3891866407" sldId="525"/>
            <ac:graphicFrameMk id="2" creationId="{7E516ACE-B7C9-4CC3-4F98-BA19F20166A6}"/>
          </ac:graphicFrameMkLst>
        </pc:graphicFrameChg>
      </pc:sldChg>
      <pc:sldChg chg="add">
        <pc:chgData name="Pramod Naik" userId="ceb6df04-ef15-4d9b-a141-998a03559d75" providerId="ADAL" clId="{62E9B5AE-779D-4001-92D3-8FF830A8A9C1}" dt="2025-11-26T19:35:59.444" v="237"/>
        <pc:sldMkLst>
          <pc:docMk/>
          <pc:sldMk cId="3927394895" sldId="526"/>
        </pc:sldMkLst>
      </pc:sldChg>
      <pc:sldChg chg="add del">
        <pc:chgData name="Pramod Naik" userId="ceb6df04-ef15-4d9b-a141-998a03559d75" providerId="ADAL" clId="{62E9B5AE-779D-4001-92D3-8FF830A8A9C1}" dt="2025-11-26T19:46:46.703" v="377" actId="47"/>
        <pc:sldMkLst>
          <pc:docMk/>
          <pc:sldMk cId="2978404243" sldId="5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11/27/2025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FB284-DAF2-8CB9-9090-285BF2A5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785" y="2284236"/>
            <a:ext cx="11484429" cy="22895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 b="1" dirty="0">
                <a:latin typeface="+mj-lt"/>
              </a:rPr>
              <a:t>Introduction to 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703384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5BB4A-DEE7-AC39-C7A3-41514D4C9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5B9C3A19-67B7-C916-E5BF-34B195B1E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4" r="1658" b="2108"/>
          <a:stretch>
            <a:fillRect/>
          </a:stretch>
        </p:blipFill>
        <p:spPr>
          <a:xfrm>
            <a:off x="1240972" y="364671"/>
            <a:ext cx="9383485" cy="6128657"/>
          </a:xfrm>
        </p:spPr>
      </p:pic>
    </p:spTree>
    <p:extLst>
      <p:ext uri="{BB962C8B-B14F-4D97-AF65-F5344CB8AC3E}">
        <p14:creationId xmlns:p14="http://schemas.microsoft.com/office/powerpoint/2010/main" val="117293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6D13-0CF5-ABC5-146A-546F935F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A654-5603-C7C9-966E-753272CC1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16" y="1697045"/>
            <a:ext cx="10900568" cy="27878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b="1" dirty="0">
                <a:latin typeface="+mj-lt"/>
              </a:rPr>
              <a:t>Program-7: </a:t>
            </a:r>
            <a:r>
              <a:rPr lang="en-US" sz="6100" b="1" dirty="0">
                <a:latin typeface="+mj-lt"/>
              </a:rPr>
              <a:t>Develop a program to find the </a:t>
            </a:r>
            <a:r>
              <a:rPr lang="en-US" sz="6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transpose of the matrix.</a:t>
            </a:r>
            <a:endParaRPr lang="en-IN" sz="6000" b="1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039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B878-5D10-E774-944B-E2AA7AA1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DC201-F9EC-B490-AE30-DB2AF5B8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40229"/>
            <a:ext cx="10659110" cy="54367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What is a Matrix?</a:t>
            </a:r>
          </a:p>
          <a:p>
            <a:r>
              <a:rPr lang="en-US" sz="2800" dirty="0"/>
              <a:t>A matrix is like a table of numbers arranged in </a:t>
            </a:r>
            <a:r>
              <a:rPr lang="en-US" sz="2800" b="1" dirty="0"/>
              <a:t>rows</a:t>
            </a:r>
            <a:r>
              <a:rPr lang="en-US" sz="2800" dirty="0"/>
              <a:t> and </a:t>
            </a:r>
            <a:r>
              <a:rPr lang="en-US" sz="2800" b="1" dirty="0"/>
              <a:t>columns</a:t>
            </a:r>
            <a:r>
              <a:rPr lang="en-US" sz="2800" dirty="0"/>
              <a:t>.</a:t>
            </a:r>
          </a:p>
          <a:p>
            <a:r>
              <a:rPr lang="en-US" sz="2800" b="1" dirty="0"/>
              <a:t>Example:</a:t>
            </a:r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Here, this matrix has: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/>
              <a:t>2 rows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/>
              <a:t>3 columns</a:t>
            </a:r>
          </a:p>
          <a:p>
            <a:endParaRPr lang="en-US" sz="2400" b="1" dirty="0"/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40493D-7B73-F2DC-80F1-8791089B5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353623"/>
              </p:ext>
            </p:extLst>
          </p:nvPr>
        </p:nvGraphicFramePr>
        <p:xfrm>
          <a:off x="2906407" y="2210230"/>
          <a:ext cx="2373163" cy="1490912"/>
        </p:xfrm>
        <a:graphic>
          <a:graphicData uri="http://schemas.openxmlformats.org/drawingml/2006/table">
            <a:tbl>
              <a:tblPr/>
              <a:tblGrid>
                <a:gridCol w="863086">
                  <a:extLst>
                    <a:ext uri="{9D8B030D-6E8A-4147-A177-3AD203B41FA5}">
                      <a16:colId xmlns:a16="http://schemas.microsoft.com/office/drawing/2014/main" val="2306715820"/>
                    </a:ext>
                  </a:extLst>
                </a:gridCol>
                <a:gridCol w="863086">
                  <a:extLst>
                    <a:ext uri="{9D8B030D-6E8A-4147-A177-3AD203B41FA5}">
                      <a16:colId xmlns:a16="http://schemas.microsoft.com/office/drawing/2014/main" val="2346520885"/>
                    </a:ext>
                  </a:extLst>
                </a:gridCol>
                <a:gridCol w="646991">
                  <a:extLst>
                    <a:ext uri="{9D8B030D-6E8A-4147-A177-3AD203B41FA5}">
                      <a16:colId xmlns:a16="http://schemas.microsoft.com/office/drawing/2014/main" val="147346925"/>
                    </a:ext>
                  </a:extLst>
                </a:gridCol>
              </a:tblGrid>
              <a:tr h="745456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4000" b="1" dirty="0">
                          <a:effectLst/>
                          <a:latin typeface="+mj-lt"/>
                        </a:rPr>
                        <a:t>1</a:t>
                      </a:r>
                      <a:endParaRPr lang="en-IN" sz="4000" dirty="0">
                        <a:effectLst/>
                        <a:latin typeface="+mj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4000" b="1">
                          <a:effectLst/>
                          <a:latin typeface="+mj-lt"/>
                        </a:rPr>
                        <a:t>2</a:t>
                      </a:r>
                      <a:endParaRPr lang="en-IN" sz="4000">
                        <a:effectLst/>
                        <a:latin typeface="+mj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4000" b="1">
                          <a:effectLst/>
                          <a:latin typeface="+mj-lt"/>
                        </a:rPr>
                        <a:t>3</a:t>
                      </a:r>
                      <a:endParaRPr lang="en-IN" sz="4000">
                        <a:effectLst/>
                        <a:latin typeface="+mj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779871"/>
                  </a:ext>
                </a:extLst>
              </a:tr>
              <a:tr h="745456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4000" b="1">
                          <a:effectLst/>
                          <a:latin typeface="+mj-lt"/>
                        </a:rPr>
                        <a:t>4</a:t>
                      </a:r>
                      <a:endParaRPr lang="en-IN" sz="4000">
                        <a:effectLst/>
                        <a:latin typeface="+mj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4000" b="1">
                          <a:effectLst/>
                          <a:latin typeface="+mj-lt"/>
                        </a:rPr>
                        <a:t>5</a:t>
                      </a:r>
                      <a:endParaRPr lang="en-IN" sz="4000">
                        <a:effectLst/>
                        <a:latin typeface="+mj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4000" b="1" dirty="0">
                          <a:effectLst/>
                          <a:latin typeface="+mj-lt"/>
                        </a:rPr>
                        <a:t>6</a:t>
                      </a:r>
                      <a:endParaRPr lang="en-IN" sz="4000" dirty="0">
                        <a:effectLst/>
                        <a:latin typeface="+mj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75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55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73490-0BD1-41DC-D55F-DC96A0AD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09BB-B4CE-D1C0-E044-7558B2B86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40229"/>
            <a:ext cx="10659110" cy="5436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What is </a:t>
            </a:r>
            <a:r>
              <a:rPr lang="en-US" sz="2400" b="1" dirty="0">
                <a:solidFill>
                  <a:srgbClr val="C00000"/>
                </a:solidFill>
              </a:rPr>
              <a:t>Transpose</a:t>
            </a:r>
            <a:r>
              <a:rPr lang="en-US" sz="2400" b="1" dirty="0"/>
              <a:t> of a Matrix?</a:t>
            </a:r>
          </a:p>
          <a:p>
            <a:r>
              <a:rPr lang="en-US" sz="2400" dirty="0"/>
              <a:t>Transpose simply means </a:t>
            </a:r>
            <a:r>
              <a:rPr lang="en-US" sz="2400" b="1" dirty="0">
                <a:solidFill>
                  <a:srgbClr val="C00000"/>
                </a:solidFill>
              </a:rPr>
              <a:t>interchanging</a:t>
            </a:r>
            <a:r>
              <a:rPr lang="en-US" sz="2400" b="1" dirty="0"/>
              <a:t> rows </a:t>
            </a:r>
            <a:r>
              <a:rPr lang="en-US" sz="2400" dirty="0"/>
              <a:t>with</a:t>
            </a:r>
            <a:r>
              <a:rPr lang="en-US" sz="2400" b="1" dirty="0"/>
              <a:t> columns</a:t>
            </a:r>
            <a:r>
              <a:rPr lang="en-US" sz="2400" dirty="0"/>
              <a:t>.</a:t>
            </a:r>
          </a:p>
          <a:p>
            <a:r>
              <a:rPr lang="en-US" sz="2400" dirty="0"/>
              <a:t>So if we take the previous slide matrix:</a:t>
            </a:r>
          </a:p>
          <a:p>
            <a:pPr lvl="1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Row 1</a:t>
            </a:r>
            <a:r>
              <a:rPr lang="en-US" sz="2400" dirty="0"/>
              <a:t> → becomes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Column 1</a:t>
            </a:r>
          </a:p>
          <a:p>
            <a:pPr lvl="1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Row 2 </a:t>
            </a:r>
            <a:r>
              <a:rPr lang="en-US" sz="2400" dirty="0"/>
              <a:t>→ becomes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Column 2</a:t>
            </a:r>
          </a:p>
          <a:p>
            <a:r>
              <a:rPr lang="en-US" sz="2400" dirty="0"/>
              <a:t>So the transpose will be: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3A4964-5BE4-3000-767B-3936F392E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088002"/>
              </p:ext>
            </p:extLst>
          </p:nvPr>
        </p:nvGraphicFramePr>
        <p:xfrm>
          <a:off x="3088699" y="3695405"/>
          <a:ext cx="2800472" cy="2133600"/>
        </p:xfrm>
        <a:graphic>
          <a:graphicData uri="http://schemas.openxmlformats.org/drawingml/2006/table">
            <a:tbl>
              <a:tblPr/>
              <a:tblGrid>
                <a:gridCol w="1200272">
                  <a:extLst>
                    <a:ext uri="{9D8B030D-6E8A-4147-A177-3AD203B41FA5}">
                      <a16:colId xmlns:a16="http://schemas.microsoft.com/office/drawing/2014/main" val="3416297599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862353745"/>
                    </a:ext>
                  </a:extLst>
                </a:gridCol>
              </a:tblGrid>
              <a:tr h="626027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IN" sz="4000" b="1" dirty="0">
                          <a:effectLst/>
                          <a:latin typeface="+mj-lt"/>
                        </a:rPr>
                        <a:t>1 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IN" sz="4000" b="1"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284642"/>
                  </a:ext>
                </a:extLst>
              </a:tr>
              <a:tr h="626027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IN" sz="4000" b="1" dirty="0">
                          <a:effectLst/>
                          <a:latin typeface="+mj-lt"/>
                        </a:rPr>
                        <a:t>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IN" sz="4000" b="1" dirty="0"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866163"/>
                  </a:ext>
                </a:extLst>
              </a:tr>
              <a:tr h="626027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IN" sz="4000" b="1" dirty="0">
                          <a:effectLst/>
                          <a:latin typeface="+mj-lt"/>
                        </a:rPr>
                        <a:t>3 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IN" sz="4000" b="1" dirty="0"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96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42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F6E7A-ADBE-2418-C8DF-54DAD330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A5F8-41C9-4262-631D-3FD5BAA3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40229"/>
            <a:ext cx="10659110" cy="5436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Transformation Mapping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516ACE-B7C9-4CC3-4F98-BA19F2016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573223"/>
              </p:ext>
            </p:extLst>
          </p:nvPr>
        </p:nvGraphicFramePr>
        <p:xfrm>
          <a:off x="1078273" y="1647022"/>
          <a:ext cx="10014268" cy="43727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37719">
                  <a:extLst>
                    <a:ext uri="{9D8B030D-6E8A-4147-A177-3AD203B41FA5}">
                      <a16:colId xmlns:a16="http://schemas.microsoft.com/office/drawing/2014/main" val="1410799282"/>
                    </a:ext>
                  </a:extLst>
                </a:gridCol>
                <a:gridCol w="2224294">
                  <a:extLst>
                    <a:ext uri="{9D8B030D-6E8A-4147-A177-3AD203B41FA5}">
                      <a16:colId xmlns:a16="http://schemas.microsoft.com/office/drawing/2014/main" val="3190960902"/>
                    </a:ext>
                  </a:extLst>
                </a:gridCol>
                <a:gridCol w="4452255">
                  <a:extLst>
                    <a:ext uri="{9D8B030D-6E8A-4147-A177-3AD203B41FA5}">
                      <a16:colId xmlns:a16="http://schemas.microsoft.com/office/drawing/2014/main" val="700435909"/>
                    </a:ext>
                  </a:extLst>
                </a:gridCol>
              </a:tblGrid>
              <a:tr h="624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Original A Position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Value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Transpose A^T Position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5033065"/>
                  </a:ext>
                </a:extLst>
              </a:tr>
              <a:tr h="624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A(1,1)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1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A^T(1,1)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0365154"/>
                  </a:ext>
                </a:extLst>
              </a:tr>
              <a:tr h="624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A(1,2)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2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A^T(2,1)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8476045"/>
                  </a:ext>
                </a:extLst>
              </a:tr>
              <a:tr h="624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A(1,3)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3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A^T(3,1)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2010418"/>
                  </a:ext>
                </a:extLst>
              </a:tr>
              <a:tr h="624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A(2,1)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4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</a:rPr>
                        <a:t>A^T(1,2)</a:t>
                      </a:r>
                      <a:endParaRPr lang="en-IN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9672072"/>
                  </a:ext>
                </a:extLst>
              </a:tr>
              <a:tr h="624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A(2,2)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5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</a:rPr>
                        <a:t>A^T(2,2)</a:t>
                      </a:r>
                      <a:endParaRPr lang="en-IN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8132812"/>
                  </a:ext>
                </a:extLst>
              </a:tr>
              <a:tr h="624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A(2,3)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>
                          <a:effectLst/>
                        </a:rPr>
                        <a:t>6</a:t>
                      </a:r>
                      <a:endParaRPr lang="en-IN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</a:rPr>
                        <a:t>A^T(3,2)</a:t>
                      </a:r>
                      <a:endParaRPr lang="en-IN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81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86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7713-7219-2FB0-A126-8BF38668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5F598-8056-97EA-3BD0-BFF0C48C7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40229"/>
            <a:ext cx="10659110" cy="54367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2739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BFE9-E10D-0253-76F1-E7505E9F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30F06-AAC5-FBC6-95C1-4BF918292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16" y="1697045"/>
            <a:ext cx="10900568" cy="27878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b="1" dirty="0">
                <a:latin typeface="+mj-lt"/>
              </a:rPr>
              <a:t>Program-6: </a:t>
            </a:r>
            <a:r>
              <a:rPr lang="en-US" sz="6000" b="1" dirty="0">
                <a:latin typeface="+mj-lt"/>
              </a:rPr>
              <a:t>Generate </a:t>
            </a:r>
            <a:r>
              <a:rPr lang="en-US" sz="6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Floyd's</a:t>
            </a:r>
            <a:r>
              <a:rPr lang="en-US" sz="6000" b="1" dirty="0">
                <a:latin typeface="+mj-lt"/>
              </a:rPr>
              <a:t> Triangle for given Rows</a:t>
            </a:r>
            <a:endParaRPr lang="en-IN" sz="6000" b="1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070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25371-62D4-E5FE-2A67-AC368A38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40229"/>
            <a:ext cx="10659110" cy="5436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Floyd’s Triangle</a:t>
            </a:r>
          </a:p>
          <a:p>
            <a:r>
              <a:rPr lang="en-US" sz="2400" b="1" dirty="0"/>
              <a:t>Floyd’s Triangle</a:t>
            </a:r>
            <a:r>
              <a:rPr lang="en-US" sz="2400" dirty="0"/>
              <a:t> is a simple </a:t>
            </a:r>
            <a:r>
              <a:rPr lang="en-US" sz="2400" b="1" dirty="0">
                <a:solidFill>
                  <a:srgbClr val="C00000"/>
                </a:solidFill>
              </a:rPr>
              <a:t>number pattern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looks like a </a:t>
            </a:r>
            <a:r>
              <a:rPr lang="en-US" sz="2400" b="1" dirty="0">
                <a:solidFill>
                  <a:srgbClr val="C00000"/>
                </a:solidFill>
              </a:rPr>
              <a:t>triangle</a:t>
            </a:r>
            <a:r>
              <a:rPr lang="en-US" sz="2400" dirty="0"/>
              <a:t> made up of </a:t>
            </a:r>
            <a:r>
              <a:rPr lang="en-US" sz="2400" b="1" dirty="0"/>
              <a:t>consecutive </a:t>
            </a:r>
            <a:r>
              <a:rPr lang="en-US" sz="2400" b="1" dirty="0">
                <a:solidFill>
                  <a:srgbClr val="C00000"/>
                </a:solidFill>
              </a:rPr>
              <a:t>natural numbers </a:t>
            </a:r>
            <a:r>
              <a:rPr lang="en-US" sz="2400" dirty="0"/>
              <a:t>(1, 2, 3, 4, 5, …).</a:t>
            </a:r>
          </a:p>
          <a:p>
            <a:r>
              <a:rPr lang="en-US" sz="2400" dirty="0"/>
              <a:t>It starts with the number </a:t>
            </a:r>
            <a:r>
              <a:rPr lang="en-US" sz="2400" b="1" dirty="0"/>
              <a:t>1</a:t>
            </a:r>
            <a:r>
              <a:rPr lang="en-US" sz="2400" dirty="0"/>
              <a:t> at the top, and each new row contains </a:t>
            </a:r>
            <a:r>
              <a:rPr lang="en-US" sz="2400" b="1" dirty="0"/>
              <a:t>one more number</a:t>
            </a:r>
            <a:r>
              <a:rPr lang="en-US" sz="2400" dirty="0"/>
              <a:t> than the previous row.</a:t>
            </a:r>
          </a:p>
          <a:p>
            <a:r>
              <a:rPr lang="en-US" sz="2400" dirty="0"/>
              <a:t>Here’s how it forms:</a:t>
            </a:r>
          </a:p>
          <a:p>
            <a:pPr lvl="1"/>
            <a:r>
              <a:rPr lang="en-US" sz="2200" dirty="0"/>
              <a:t>Row 1 → 1 number → </a:t>
            </a:r>
            <a:r>
              <a:rPr lang="en-US" dirty="0"/>
              <a:t>1</a:t>
            </a:r>
            <a:endParaRPr lang="en-US" sz="2200" dirty="0"/>
          </a:p>
          <a:p>
            <a:pPr lvl="1"/>
            <a:r>
              <a:rPr lang="en-US" sz="2200" dirty="0"/>
              <a:t>Row 2 → 2 numbers → </a:t>
            </a:r>
            <a:r>
              <a:rPr lang="en-US" dirty="0"/>
              <a:t>2 3</a:t>
            </a:r>
            <a:endParaRPr lang="en-US" sz="2200" dirty="0"/>
          </a:p>
          <a:p>
            <a:pPr lvl="1"/>
            <a:r>
              <a:rPr lang="en-US" sz="2200" dirty="0"/>
              <a:t>Row 3 → 3 numbers → </a:t>
            </a:r>
            <a:r>
              <a:rPr lang="en-US" dirty="0"/>
              <a:t>4 5 6</a:t>
            </a:r>
            <a:endParaRPr lang="en-US" sz="2200" dirty="0"/>
          </a:p>
          <a:p>
            <a:pPr lvl="1"/>
            <a:r>
              <a:rPr lang="en-US" sz="2200" dirty="0"/>
              <a:t>Row 4 → 4 numbers → </a:t>
            </a:r>
            <a:r>
              <a:rPr lang="en-US" dirty="0"/>
              <a:t>7 8 9 10</a:t>
            </a:r>
            <a:endParaRPr lang="en-US" sz="2200" dirty="0"/>
          </a:p>
          <a:p>
            <a:pPr lvl="1"/>
            <a:r>
              <a:rPr lang="en-US" sz="2200" dirty="0"/>
              <a:t>Row 5 → 5 numbers → </a:t>
            </a:r>
            <a:r>
              <a:rPr lang="en-US" dirty="0"/>
              <a:t>11 12 13 14 15</a:t>
            </a:r>
            <a:endParaRPr lang="en-US" sz="2200" dirty="0"/>
          </a:p>
          <a:p>
            <a:r>
              <a:rPr lang="en-US" sz="2400" dirty="0"/>
              <a:t>Each number continues from the previous one</a:t>
            </a:r>
          </a:p>
          <a:p>
            <a:r>
              <a:rPr lang="en-US" sz="2400" dirty="0"/>
              <a:t>There are </a:t>
            </a:r>
            <a:r>
              <a:rPr lang="en-US" sz="2400" b="1" dirty="0"/>
              <a:t>no skips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131BE-FD71-8C8E-A1B3-C035777DB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458" y="2614275"/>
            <a:ext cx="3955971" cy="35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63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434F4-19A4-EFAC-5477-6E61F3708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2CE86-BF42-BAB8-E553-4CD413A91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16" y="1381359"/>
            <a:ext cx="10900568" cy="40952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b="1" dirty="0">
                <a:latin typeface="+mj-lt"/>
              </a:rPr>
              <a:t>Program-2: Develop a Program to Find the </a:t>
            </a:r>
            <a:r>
              <a:rPr lang="en-IN" sz="6000" b="1" dirty="0">
                <a:solidFill>
                  <a:srgbClr val="C00000"/>
                </a:solidFill>
                <a:latin typeface="+mj-lt"/>
              </a:rPr>
              <a:t>Roots</a:t>
            </a:r>
            <a:r>
              <a:rPr lang="en-IN" sz="6000" b="1" dirty="0">
                <a:latin typeface="+mj-lt"/>
              </a:rPr>
              <a:t> of </a:t>
            </a:r>
            <a:r>
              <a:rPr lang="en-IN" sz="6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Quadratic Equations</a:t>
            </a:r>
          </a:p>
        </p:txBody>
      </p:sp>
    </p:spTree>
    <p:extLst>
      <p:ext uri="{BB962C8B-B14F-4D97-AF65-F5344CB8AC3E}">
        <p14:creationId xmlns:p14="http://schemas.microsoft.com/office/powerpoint/2010/main" val="355644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718D-1BC9-3D5D-C0C5-C6015187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5E2A00-176B-D173-0089-6F97C7360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853" y="719137"/>
                <a:ext cx="10900568" cy="53138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800" b="1" dirty="0"/>
                  <a:t>What is quadratic equation: (quadratic means </a:t>
                </a:r>
                <a:r>
                  <a:rPr lang="en-IN" sz="2800" b="1" dirty="0">
                    <a:solidFill>
                      <a:srgbClr val="C00000"/>
                    </a:solidFill>
                  </a:rPr>
                  <a:t>square</a:t>
                </a:r>
                <a:r>
                  <a:rPr lang="en-IN" sz="2800" b="1" dirty="0"/>
                  <a:t> )</a:t>
                </a:r>
              </a:p>
              <a:p>
                <a:r>
                  <a:rPr lang="en-US" sz="2400" dirty="0"/>
                  <a:t>A </a:t>
                </a:r>
                <a:r>
                  <a:rPr lang="en-US" sz="2400" b="1" dirty="0"/>
                  <a:t>quadratic equation</a:t>
                </a:r>
                <a:r>
                  <a:rPr lang="en-US" sz="2400" dirty="0"/>
                  <a:t> is a type of polynomial equation in which the </a:t>
                </a:r>
                <a:r>
                  <a:rPr lang="en-US" sz="2400" b="1" dirty="0"/>
                  <a:t>highest power of the variable (usually x)</a:t>
                </a:r>
                <a:r>
                  <a:rPr lang="en-US" sz="2400" dirty="0"/>
                  <a:t> is </a:t>
                </a:r>
                <a:r>
                  <a:rPr lang="en-US" sz="2400" b="1" dirty="0"/>
                  <a:t>2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It has the general form: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b="1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are real numbers (constants)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400" dirty="0"/>
                  <a:t>(because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it becomes a linear equation)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is the variable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IN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5E2A00-176B-D173-0089-6F97C7360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853" y="719137"/>
                <a:ext cx="10900568" cy="5313801"/>
              </a:xfrm>
              <a:blipFill>
                <a:blip r:embed="rId2"/>
                <a:stretch>
                  <a:fillRect l="-1119" t="-19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8DB345C-0878-7BF5-5891-421483A3C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238" y="2703612"/>
            <a:ext cx="3926019" cy="8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89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7A71-9FDE-A34F-73E5-98066158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4C9AB-810B-E8C7-F1F5-53D8745121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853" y="719137"/>
                <a:ext cx="10900568" cy="53138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b="1" dirty="0"/>
                  <a:t>Examples of Quadratic Equations: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3200" dirty="0"/>
              </a:p>
              <a:p>
                <a14:m>
                  <m:oMath xmlns:m="http://schemas.openxmlformats.org/officeDocument/2006/math">
                    <m:r>
                      <a:rPr lang="ar-AE" sz="280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3200" dirty="0"/>
              </a:p>
              <a:p>
                <a14:m>
                  <m:oMath xmlns:m="http://schemas.openxmlformats.org/officeDocument/2006/math">
                    <m:r>
                      <a:rPr lang="ar-AE" sz="280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12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32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3200" dirty="0"/>
              </a:p>
              <a:p>
                <a14:m>
                  <m:oMath xmlns:m="http://schemas.openxmlformats.org/officeDocument/2006/math">
                    <m:r>
                      <a:rPr lang="ar-AE" sz="280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3200" dirty="0"/>
              </a:p>
              <a:p>
                <a:pPr marL="0" indent="0">
                  <a:buNone/>
                </a:pPr>
                <a:endParaRPr lang="en-IN" sz="2400" b="1" dirty="0"/>
              </a:p>
              <a:p>
                <a:pPr marL="0" indent="0">
                  <a:buNone/>
                </a:pPr>
                <a:r>
                  <a:rPr lang="en-IN" sz="2400" b="1" dirty="0"/>
                  <a:t>How to Identify a Quadratic Equation:</a:t>
                </a:r>
              </a:p>
              <a:p>
                <a:r>
                  <a:rPr lang="en-IN" sz="2400" dirty="0"/>
                  <a:t>If the equation contains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2400" dirty="0"/>
                  <a:t>(</a:t>
                </a:r>
                <a:r>
                  <a:rPr lang="en-IN" sz="2400" dirty="0"/>
                  <a:t>and not any higher powers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sz="2400" dirty="0"/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ar-AE" sz="2400" dirty="0"/>
                  <a:t>), </a:t>
                </a:r>
                <a:r>
                  <a:rPr lang="en-IN" sz="2400" dirty="0"/>
                  <a:t>and it can be written in the form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dirty="0"/>
                  <a:t>, </a:t>
                </a:r>
                <a:r>
                  <a:rPr lang="en-IN" sz="2400" dirty="0"/>
                  <a:t>then it is </a:t>
                </a:r>
                <a:r>
                  <a:rPr lang="en-IN" sz="2400" b="1" dirty="0"/>
                  <a:t>quadratic</a:t>
                </a:r>
                <a:r>
                  <a:rPr lang="en-IN" sz="2400" dirty="0"/>
                  <a:t>.</a:t>
                </a:r>
              </a:p>
              <a:p>
                <a:pPr marL="0" indent="0">
                  <a:buNone/>
                </a:pPr>
                <a:endParaRPr lang="en-IN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4C9AB-810B-E8C7-F1F5-53D8745121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853" y="719137"/>
                <a:ext cx="10900568" cy="5313801"/>
              </a:xfrm>
              <a:blipFill>
                <a:blip r:embed="rId2"/>
                <a:stretch>
                  <a:fillRect l="-839" t="-16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42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F22C2-2457-4050-D1C8-5BE860A9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1991B-CDF1-BEB1-C710-B1ADE7063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719137"/>
            <a:ext cx="10900568" cy="5313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Roots</a:t>
            </a:r>
            <a:r>
              <a:rPr lang="en-US" sz="2800" b="1" dirty="0"/>
              <a:t> of a Quadratic Equation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roots</a:t>
            </a:r>
            <a:r>
              <a:rPr lang="en-US" sz="2400" dirty="0"/>
              <a:t> (also called </a:t>
            </a:r>
            <a:r>
              <a:rPr lang="en-US" sz="2400" b="1" dirty="0"/>
              <a:t>solutions</a:t>
            </a:r>
            <a:r>
              <a:rPr lang="en-US" sz="2400" dirty="0"/>
              <a:t> or </a:t>
            </a:r>
            <a:r>
              <a:rPr lang="en-US" sz="2400" b="1" dirty="0"/>
              <a:t>zeros</a:t>
            </a:r>
            <a:r>
              <a:rPr lang="en-US" sz="2400" dirty="0"/>
              <a:t>) of a quadratic equation are the </a:t>
            </a:r>
            <a:r>
              <a:rPr lang="en-US" sz="2400" b="1" dirty="0"/>
              <a:t>values of x</a:t>
            </a:r>
            <a:r>
              <a:rPr lang="en-US" sz="2400" dirty="0"/>
              <a:t> that make the equation </a:t>
            </a:r>
            <a:r>
              <a:rPr lang="en-US" sz="2400" b="1" dirty="0"/>
              <a:t>true</a:t>
            </a:r>
            <a:r>
              <a:rPr lang="en-US" sz="2400" dirty="0"/>
              <a:t> — that is, the values that satisfy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 other words, if you plug a root value into the equation, the result becomes </a:t>
            </a:r>
            <a:r>
              <a:rPr lang="en-US" sz="2400" b="1" dirty="0"/>
              <a:t>0</a:t>
            </a:r>
            <a:r>
              <a:rPr lang="en-US" sz="2400" dirty="0"/>
              <a:t>.</a:t>
            </a:r>
            <a:endParaRPr lang="en-IN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BEEEE5-6C62-BEED-64E1-FADDBC406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353" y="2536393"/>
            <a:ext cx="3926019" cy="8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30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9F2D-5751-65C6-9D42-344E85208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A7068-A9C5-C644-285D-623367853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719137"/>
            <a:ext cx="10900568" cy="5313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 Equation: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dirty="0"/>
              <a:t>Use the </a:t>
            </a:r>
            <a:r>
              <a:rPr lang="en-IN" sz="2400" b="1" dirty="0"/>
              <a:t>quadratic formula</a:t>
            </a:r>
            <a:r>
              <a:rPr lang="en-IN" sz="2400" dirty="0"/>
              <a:t>:</a:t>
            </a:r>
          </a:p>
          <a:p>
            <a:pPr marL="0" indent="0">
              <a:buNone/>
            </a:pPr>
            <a:r>
              <a:rPr lang="en-IN" sz="2400" b="1" dirty="0"/>
              <a:t>	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	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ABA3B7-0440-80A0-519A-5001E8562A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414"/>
          <a:stretch>
            <a:fillRect/>
          </a:stretch>
        </p:blipFill>
        <p:spPr>
          <a:xfrm>
            <a:off x="3268742" y="1393372"/>
            <a:ext cx="3741658" cy="6723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300BC0-E90F-D89A-65D9-1F59580F5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742" y="3420876"/>
            <a:ext cx="4180952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74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3E2B5-800C-F24A-06C6-26942035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96197-CB58-9C40-7BDF-E4491EFE9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853" y="719137"/>
                <a:ext cx="10900568" cy="53138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dirty="0"/>
                  <a:t>Here, </a:t>
                </a:r>
                <a:r>
                  <a:rPr lang="en-IN" sz="2800" b="1" dirty="0"/>
                  <a:t> </a:t>
                </a:r>
                <a14:m>
                  <m:oMath xmlns:m="http://schemas.openxmlformats.org/officeDocument/2006/math">
                    <m:r>
                      <a:rPr lang="en-IN" sz="2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4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sz="2400" b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IN" sz="24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IN" sz="2400" b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IN" sz="2400" b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sz="24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sz="2400" b="1" dirty="0"/>
              </a:p>
              <a:p>
                <a:pPr marL="0" indent="0">
                  <a:buNone/>
                </a:pPr>
                <a:endParaRPr lang="en-IN" sz="2800" b="1" dirty="0"/>
              </a:p>
              <a:p>
                <a:pPr marL="0" indent="0">
                  <a:buNone/>
                </a:pPr>
                <a:endParaRPr lang="en-IN" sz="2800" b="1" dirty="0"/>
              </a:p>
              <a:p>
                <a:pPr marL="0" indent="0">
                  <a:buNone/>
                </a:pPr>
                <a:endParaRPr lang="en-IN" sz="2800" b="1" dirty="0"/>
              </a:p>
              <a:p>
                <a:pPr marL="0" indent="0">
                  <a:buNone/>
                </a:pPr>
                <a:r>
                  <a:rPr lang="en-IN" sz="2800" dirty="0"/>
                  <a:t>So,</a:t>
                </a:r>
              </a:p>
              <a:p>
                <a:pPr marL="0" indent="0">
                  <a:buNone/>
                </a:pPr>
                <a:endParaRPr lang="en-IN" sz="2800" b="1" dirty="0"/>
              </a:p>
              <a:p>
                <a:pPr marL="0" indent="0">
                  <a:buNone/>
                </a:pPr>
                <a:endParaRPr lang="en-IN" sz="2800" b="1" dirty="0"/>
              </a:p>
              <a:p>
                <a:pPr marL="0" indent="0">
                  <a:buNone/>
                </a:pPr>
                <a:endParaRPr lang="en-IN" sz="2800" b="1" dirty="0"/>
              </a:p>
              <a:p>
                <a:pPr marL="0" indent="0">
                  <a:buNone/>
                </a:pPr>
                <a:endParaRPr lang="en-IN" sz="2800" b="1" dirty="0"/>
              </a:p>
              <a:p>
                <a:pPr marL="0" indent="0">
                  <a:buNone/>
                </a:pPr>
                <a:r>
                  <a:rPr lang="en-IN" sz="2800" dirty="0"/>
                  <a:t>Roots are </a:t>
                </a:r>
                <a:r>
                  <a:rPr lang="en-IN" sz="2800" b="1" dirty="0">
                    <a:solidFill>
                      <a:srgbClr val="C00000"/>
                    </a:solidFill>
                  </a:rPr>
                  <a:t>½</a:t>
                </a:r>
                <a:r>
                  <a:rPr lang="en-IN" sz="2800" b="1" dirty="0"/>
                  <a:t> and </a:t>
                </a:r>
                <a:r>
                  <a:rPr lang="en-IN" sz="2800" b="1" dirty="0">
                    <a:solidFill>
                      <a:srgbClr val="C00000"/>
                    </a:solidFill>
                  </a:rPr>
                  <a:t>-2</a:t>
                </a:r>
                <a:r>
                  <a:rPr lang="en-IN" sz="2800" dirty="0"/>
                  <a:t>.</a:t>
                </a:r>
                <a:endParaRPr lang="en-IN" sz="2800" b="1" dirty="0"/>
              </a:p>
              <a:p>
                <a:pPr marL="0" indent="0">
                  <a:buNone/>
                </a:pPr>
                <a:endParaRPr lang="en-IN" sz="2800" b="1" dirty="0"/>
              </a:p>
              <a:p>
                <a:pPr marL="0" indent="0">
                  <a:buNone/>
                </a:pPr>
                <a:endParaRPr lang="en-IN" sz="28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96197-CB58-9C40-7BDF-E4491EFE9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853" y="719137"/>
                <a:ext cx="10900568" cy="5313801"/>
              </a:xfrm>
              <a:blipFill>
                <a:blip r:embed="rId2"/>
                <a:stretch>
                  <a:fillRect l="-1119" t="-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AAC89E-F454-8B72-668A-39BE95842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285" y="1405467"/>
            <a:ext cx="7826829" cy="1130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8C7033-AB12-7B53-82BD-D9E8C775B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285" y="3222339"/>
            <a:ext cx="7826829" cy="13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64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65B9C-B3C6-0030-34CB-577ACCC6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B615E-0C11-840D-5C7C-5CD5AF973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719137"/>
            <a:ext cx="10900568" cy="5313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Why the word “</a:t>
            </a:r>
            <a:r>
              <a:rPr lang="en-US" sz="2400" b="1" dirty="0">
                <a:solidFill>
                  <a:srgbClr val="C00000"/>
                </a:solidFill>
              </a:rPr>
              <a:t>roots</a:t>
            </a:r>
            <a:r>
              <a:rPr lang="en-US" sz="2400" b="1" dirty="0"/>
              <a:t>”?</a:t>
            </a:r>
          </a:p>
          <a:p>
            <a:r>
              <a:rPr lang="en-US" sz="2400" dirty="0"/>
              <a:t>The word </a:t>
            </a:r>
            <a:r>
              <a:rPr lang="en-US" sz="2400" b="1" dirty="0"/>
              <a:t>“root”</a:t>
            </a:r>
            <a:r>
              <a:rPr lang="en-US" sz="2400" dirty="0"/>
              <a:t> in mathematics comes from the idea of a </a:t>
            </a:r>
            <a:r>
              <a:rPr lang="en-US" sz="2400" b="1" dirty="0"/>
              <a:t>foundation</a:t>
            </a:r>
            <a:r>
              <a:rPr lang="en-US" sz="2400" dirty="0"/>
              <a:t> —</a:t>
            </a:r>
            <a:br>
              <a:rPr lang="en-US" sz="2400" dirty="0"/>
            </a:br>
            <a:r>
              <a:rPr lang="en-US" sz="2400" dirty="0"/>
              <a:t>just like the roots of a tree are the base or starting point of its growth.</a:t>
            </a:r>
          </a:p>
          <a:p>
            <a:r>
              <a:rPr lang="en-US" sz="2400" dirty="0"/>
              <a:t>In equations, a </a:t>
            </a:r>
            <a:r>
              <a:rPr lang="en-US" sz="2400" b="1" dirty="0"/>
              <a:t>root</a:t>
            </a:r>
            <a:r>
              <a:rPr lang="en-US" sz="2400" dirty="0"/>
              <a:t> is the </a:t>
            </a:r>
            <a:r>
              <a:rPr lang="en-US" sz="2400" b="1" dirty="0"/>
              <a:t>value of x</a:t>
            </a:r>
            <a:r>
              <a:rPr lang="en-US" sz="2400" dirty="0"/>
              <a:t> that makes the equation become </a:t>
            </a:r>
            <a:r>
              <a:rPr lang="en-US" sz="2400" b="1" dirty="0"/>
              <a:t>zero</a:t>
            </a:r>
            <a:r>
              <a:rPr lang="en-US" sz="2400" dirty="0"/>
              <a:t> —</a:t>
            </a:r>
            <a:br>
              <a:rPr lang="en-US" sz="2400" dirty="0"/>
            </a:br>
            <a:r>
              <a:rPr lang="en-US" sz="2400" dirty="0"/>
              <a:t>the point where the expression “starts” or “balances”.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58689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A0E4-F91D-8CA0-0851-115A07C4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9518F-34FF-6656-BA2A-57589BD4E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587829"/>
            <a:ext cx="10900568" cy="5445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Approach:</a:t>
            </a:r>
          </a:p>
          <a:p>
            <a:r>
              <a:rPr lang="en-US" sz="2800" dirty="0"/>
              <a:t>When a quadratic equation is like: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IN" sz="2800" dirty="0"/>
          </a:p>
          <a:p>
            <a:r>
              <a:rPr lang="en-IN" sz="2800" dirty="0"/>
              <a:t>We calculate the </a:t>
            </a:r>
            <a:r>
              <a:rPr lang="en-IN" sz="2800" b="1" dirty="0">
                <a:solidFill>
                  <a:srgbClr val="C00000"/>
                </a:solidFill>
              </a:rPr>
              <a:t>discriminant</a:t>
            </a:r>
            <a:r>
              <a:rPr lang="en-IN" sz="2800" dirty="0"/>
              <a:t>:</a:t>
            </a:r>
          </a:p>
          <a:p>
            <a:endParaRPr lang="en-IN" sz="2800" dirty="0"/>
          </a:p>
          <a:p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76361-53E1-6BB3-3F5A-16AC649BB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736" y="1965500"/>
            <a:ext cx="3443751" cy="7947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CD238C-197D-6A95-400C-EEA02B1644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307"/>
          <a:stretch>
            <a:fillRect/>
          </a:stretch>
        </p:blipFill>
        <p:spPr>
          <a:xfrm>
            <a:off x="3041429" y="4201885"/>
            <a:ext cx="3294058" cy="76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20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06EE-B07E-DFA1-F64D-F40AA869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0CA320-4857-1823-2E9C-24AC9E1C5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853" y="719137"/>
                <a:ext cx="10900568" cy="5313801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The meaning of discriminant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b="1" dirty="0"/>
                  <a:t>:</a:t>
                </a:r>
              </a:p>
              <a:p>
                <a:pPr lvl="1"/>
                <a:r>
                  <a:rPr lang="en-US" sz="2400" b="1" dirty="0"/>
                  <a:t>D &gt; 0</a:t>
                </a:r>
                <a:r>
                  <a:rPr lang="en-US" sz="2400" dirty="0"/>
                  <a:t> → Two real and distinct roots</a:t>
                </a:r>
              </a:p>
              <a:p>
                <a:pPr lvl="1"/>
                <a:r>
                  <a:rPr lang="en-US" sz="2400" b="1" dirty="0"/>
                  <a:t>D = 0</a:t>
                </a:r>
                <a:r>
                  <a:rPr lang="en-US" sz="2400" dirty="0"/>
                  <a:t> → Two real and equal roots</a:t>
                </a:r>
              </a:p>
              <a:p>
                <a:pPr lvl="1"/>
                <a:r>
                  <a:rPr lang="en-US" sz="2400" b="1" dirty="0"/>
                  <a:t>D &lt; 0</a:t>
                </a:r>
                <a:r>
                  <a:rPr lang="en-US" sz="2400" dirty="0"/>
                  <a:t> → </a:t>
                </a:r>
                <a:r>
                  <a:rPr lang="en-US" sz="2400" b="1" dirty="0"/>
                  <a:t>No real roots exist</a:t>
                </a:r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So, </a:t>
                </a:r>
                <a:r>
                  <a:rPr lang="en-US" sz="2400" b="1" dirty="0"/>
                  <a:t>“No real roots exist”</a:t>
                </a:r>
                <a:r>
                  <a:rPr lang="en-US" sz="2400" dirty="0"/>
                  <a:t> means:</a:t>
                </a:r>
              </a:p>
              <a:p>
                <a:pPr lvl="1"/>
                <a:r>
                  <a:rPr lang="en-US" sz="2400" dirty="0"/>
                  <a:t>There is </a:t>
                </a:r>
                <a:r>
                  <a:rPr lang="en-US" sz="2400" b="1" dirty="0"/>
                  <a:t>no value of x</a:t>
                </a:r>
                <a:r>
                  <a:rPr lang="en-US" sz="2400" dirty="0"/>
                  <a:t> that makes the equation equal to 0 </a:t>
                </a:r>
                <a:r>
                  <a:rPr lang="en-US" sz="2400" b="1" dirty="0"/>
                  <a:t>using real numbers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US" sz="2400" dirty="0"/>
                  <a:t>The roots in this case are </a:t>
                </a:r>
                <a:r>
                  <a:rPr lang="en-US" sz="2400" b="1" dirty="0"/>
                  <a:t>complex or imaginary numbers</a:t>
                </a:r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0CA320-4857-1823-2E9C-24AC9E1C5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853" y="719137"/>
                <a:ext cx="10900568" cy="5313801"/>
              </a:xfrm>
              <a:blipFill>
                <a:blip r:embed="rId2"/>
                <a:stretch>
                  <a:fillRect l="-727" t="-16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481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12D64-4555-5047-D762-18C056BA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82B1-5B82-EE2F-D400-4B2B2C47E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446315"/>
            <a:ext cx="10900568" cy="5586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Test Case-1: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Test Case-2: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Test Case-3: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CDF41-A3BB-ED56-9AC2-9B4DE5A6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948" y="446315"/>
            <a:ext cx="6688104" cy="1678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F9034B-6AEC-4A50-F7A9-0A99CBFDD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771" y="2781944"/>
            <a:ext cx="6875299" cy="1679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9EB034-DFEB-7282-AE16-F5FA60F01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091" y="4925971"/>
            <a:ext cx="7866667" cy="1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45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12616-CE8C-8059-B9D1-72630AD5F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CD7D9-151C-9F32-8BF5-828F4723B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16" y="1381359"/>
            <a:ext cx="10900568" cy="40952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b="1" dirty="0">
                <a:solidFill>
                  <a:srgbClr val="C00000"/>
                </a:solidFill>
                <a:latin typeface="+mj-lt"/>
              </a:rPr>
              <a:t>Program-3: </a:t>
            </a:r>
            <a:r>
              <a:rPr lang="en-IN" sz="6000" b="1" dirty="0">
                <a:latin typeface="+mj-lt"/>
              </a:rPr>
              <a:t>Develop a Program to Find whether a given number is </a:t>
            </a:r>
            <a:r>
              <a:rPr lang="en-IN" sz="6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Prime</a:t>
            </a:r>
            <a:r>
              <a:rPr lang="en-IN" sz="6000" b="1" dirty="0">
                <a:latin typeface="+mj-lt"/>
              </a:rPr>
              <a:t> or Not</a:t>
            </a:r>
            <a:endParaRPr lang="en-IN" sz="6000" b="1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3199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D083-FA09-3FA8-1EBE-39A5976A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F6206-825E-2C99-9B55-01DEE1541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1088571"/>
            <a:ext cx="10900568" cy="4944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What is a Prime Number?</a:t>
            </a:r>
          </a:p>
          <a:p>
            <a:r>
              <a:rPr lang="en-US" sz="2800" dirty="0"/>
              <a:t>A </a:t>
            </a:r>
            <a:r>
              <a:rPr lang="en-US" sz="2800" b="1" dirty="0"/>
              <a:t>prime number</a:t>
            </a:r>
            <a:r>
              <a:rPr lang="en-US" sz="2800" dirty="0"/>
              <a:t> is a </a:t>
            </a:r>
            <a:r>
              <a:rPr lang="en-US" sz="2800" b="1" dirty="0"/>
              <a:t>natural number greater than 1</a:t>
            </a:r>
            <a:r>
              <a:rPr lang="en-US" sz="2800" dirty="0"/>
              <a:t> that has </a:t>
            </a:r>
            <a:r>
              <a:rPr lang="en-US" sz="2800" b="1" dirty="0"/>
              <a:t>only two factors</a:t>
            </a:r>
            <a:r>
              <a:rPr lang="en-US" sz="2800" dirty="0"/>
              <a:t>:</a:t>
            </a:r>
          </a:p>
          <a:p>
            <a:pPr lvl="1"/>
            <a:r>
              <a:rPr lang="en-US" sz="2800" b="1" dirty="0"/>
              <a:t>1</a:t>
            </a:r>
            <a:r>
              <a:rPr lang="en-US" sz="2800" dirty="0"/>
              <a:t> and</a:t>
            </a:r>
          </a:p>
          <a:p>
            <a:pPr lvl="1"/>
            <a:r>
              <a:rPr lang="en-US" sz="2800" b="1" dirty="0"/>
              <a:t>the number itself</a:t>
            </a:r>
            <a:endParaRPr lang="en-US" sz="28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2800" b="1" dirty="0"/>
              <a:t>👉 In simple words:</a:t>
            </a:r>
          </a:p>
          <a:p>
            <a:r>
              <a:rPr lang="en-US" sz="2400" dirty="0"/>
              <a:t>A prime number can be </a:t>
            </a:r>
            <a:r>
              <a:rPr lang="en-US" sz="2400" b="1" dirty="0"/>
              <a:t>divided evenly only by 1 and itself</a:t>
            </a:r>
            <a:r>
              <a:rPr lang="en-US" sz="2400" dirty="0"/>
              <a:t> — no other number should divide it.</a:t>
            </a:r>
          </a:p>
          <a:p>
            <a:r>
              <a:rPr lang="en-US" sz="2400" dirty="0"/>
              <a:t>When we say </a:t>
            </a:r>
            <a:r>
              <a:rPr lang="en-US" sz="2400" b="1" dirty="0"/>
              <a:t>“a number divides another number evenly”</a:t>
            </a:r>
            <a:r>
              <a:rPr lang="en-US" sz="2400" dirty="0"/>
              <a:t>, it means the </a:t>
            </a:r>
            <a:r>
              <a:rPr lang="en-US" sz="2400" b="1" dirty="0"/>
              <a:t>remainder is 0</a:t>
            </a:r>
            <a:r>
              <a:rPr lang="en-US" sz="2400" dirty="0"/>
              <a:t> after division.</a:t>
            </a:r>
          </a:p>
        </p:txBody>
      </p:sp>
    </p:spTree>
    <p:extLst>
      <p:ext uri="{BB962C8B-B14F-4D97-AF65-F5344CB8AC3E}">
        <p14:creationId xmlns:p14="http://schemas.microsoft.com/office/powerpoint/2010/main" val="288091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A71C2-C881-A106-7755-EA67A96C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E7C00-1568-19F8-6782-CE1388A1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719137"/>
            <a:ext cx="10900568" cy="5313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Examples of Prime Numbers:</a:t>
            </a:r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528A29-1138-AA04-EA14-94547C96E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531361"/>
              </p:ext>
            </p:extLst>
          </p:nvPr>
        </p:nvGraphicFramePr>
        <p:xfrm>
          <a:off x="1164771" y="1502229"/>
          <a:ext cx="8991600" cy="4038601"/>
        </p:xfrm>
        <a:graphic>
          <a:graphicData uri="http://schemas.openxmlformats.org/drawingml/2006/table">
            <a:tbl>
              <a:tblPr/>
              <a:tblGrid>
                <a:gridCol w="1992086">
                  <a:extLst>
                    <a:ext uri="{9D8B030D-6E8A-4147-A177-3AD203B41FA5}">
                      <a16:colId xmlns:a16="http://schemas.microsoft.com/office/drawing/2014/main" val="2481169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84596746"/>
                    </a:ext>
                  </a:extLst>
                </a:gridCol>
                <a:gridCol w="4561114">
                  <a:extLst>
                    <a:ext uri="{9D8B030D-6E8A-4147-A177-3AD203B41FA5}">
                      <a16:colId xmlns:a16="http://schemas.microsoft.com/office/drawing/2014/main" val="2439039753"/>
                    </a:ext>
                  </a:extLst>
                </a:gridCol>
              </a:tblGrid>
              <a:tr h="528415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  <a:latin typeface="Aptos" panose="020B0004020202020204" pitchFamily="34" charset="0"/>
                        </a:rPr>
                        <a:t>Number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>
                          <a:effectLst/>
                          <a:latin typeface="Aptos" panose="020B0004020202020204" pitchFamily="34" charset="0"/>
                        </a:rPr>
                        <a:t>Divisible By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b="1" dirty="0">
                          <a:effectLst/>
                          <a:latin typeface="Aptos" panose="020B0004020202020204" pitchFamily="34" charset="0"/>
                        </a:rPr>
                        <a:t>Prime or Not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724248"/>
                  </a:ext>
                </a:extLst>
              </a:tr>
              <a:tr h="528415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1, 2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Prime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63569"/>
                  </a:ext>
                </a:extLst>
              </a:tr>
              <a:tr h="528415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1, 3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Prime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537535"/>
                  </a:ext>
                </a:extLst>
              </a:tr>
              <a:tr h="528415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1, 2, 4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Not Prime (divisible by 2)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800177"/>
                  </a:ext>
                </a:extLst>
              </a:tr>
              <a:tr h="528415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1, 5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Prime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601392"/>
                  </a:ext>
                </a:extLst>
              </a:tr>
              <a:tr h="868111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1, 2, 3, 6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Not Prime (divisible by 2 and 3)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471431"/>
                  </a:ext>
                </a:extLst>
              </a:tr>
              <a:tr h="528415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>
                          <a:effectLst/>
                          <a:latin typeface="Aptos" panose="020B0004020202020204" pitchFamily="34" charset="0"/>
                        </a:rPr>
                        <a:t>1, 7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IN" sz="2400" dirty="0">
                          <a:effectLst/>
                          <a:latin typeface="Aptos" panose="020B0004020202020204" pitchFamily="34" charset="0"/>
                        </a:rPr>
                        <a:t>Prime</a:t>
                      </a:r>
                      <a:endParaRPr lang="en-IN" sz="24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91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276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C13F2-D43C-03E1-A013-FFB3AD423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74A6-13F9-C913-B52F-3569A3544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979714"/>
            <a:ext cx="10900568" cy="5053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Approach</a:t>
            </a:r>
          </a:p>
          <a:p>
            <a:r>
              <a:rPr lang="en-US" sz="2400" dirty="0"/>
              <a:t>Let’s say the user enters a number — for example, num = 7.</a:t>
            </a:r>
          </a:p>
          <a:p>
            <a:endParaRPr lang="en-US" sz="1800" b="1" dirty="0"/>
          </a:p>
          <a:p>
            <a:pPr marL="0" indent="0">
              <a:buNone/>
            </a:pPr>
            <a:r>
              <a:rPr lang="en-US" sz="2400" b="1" dirty="0"/>
              <a:t>Step-by-step logic:</a:t>
            </a:r>
          </a:p>
          <a:p>
            <a:r>
              <a:rPr lang="en-US" sz="2400" dirty="0"/>
              <a:t>If num &lt;= 1 → it’s </a:t>
            </a:r>
            <a:r>
              <a:rPr lang="en-US" sz="2400" b="1" dirty="0"/>
              <a:t>not prime</a:t>
            </a:r>
            <a:r>
              <a:rPr lang="en-US" sz="2400" dirty="0"/>
              <a:t>. (Because 0 and 1 are not prime by definition.)</a:t>
            </a:r>
          </a:p>
          <a:p>
            <a:r>
              <a:rPr lang="en-US" sz="2400" dirty="0"/>
              <a:t>Start </a:t>
            </a:r>
            <a:r>
              <a:rPr lang="en-US" sz="2400" b="1" dirty="0">
                <a:solidFill>
                  <a:srgbClr val="C00000"/>
                </a:solidFill>
              </a:rPr>
              <a:t>dividing num </a:t>
            </a:r>
            <a:r>
              <a:rPr lang="en-US" sz="2400" dirty="0"/>
              <a:t>by all numbers </a:t>
            </a:r>
            <a:r>
              <a:rPr lang="en-US" sz="2400" b="1" dirty="0"/>
              <a:t>from </a:t>
            </a:r>
            <a:r>
              <a:rPr lang="en-US" sz="2400" b="1" dirty="0">
                <a:solidFill>
                  <a:srgbClr val="C00000"/>
                </a:solidFill>
              </a:rPr>
              <a:t>2</a:t>
            </a:r>
            <a:r>
              <a:rPr lang="en-US" sz="2400" b="1" dirty="0"/>
              <a:t> up to </a:t>
            </a:r>
            <a:r>
              <a:rPr lang="en-US" sz="2400" b="1" dirty="0">
                <a:solidFill>
                  <a:srgbClr val="C00000"/>
                </a:solidFill>
              </a:rPr>
              <a:t>num - 1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If </a:t>
            </a:r>
            <a:r>
              <a:rPr lang="en-US" sz="2400" b="1" dirty="0"/>
              <a:t>any number divides num completely </a:t>
            </a:r>
            <a:r>
              <a:rPr lang="en-US" sz="2400" dirty="0"/>
              <a:t>(num % </a:t>
            </a:r>
            <a:r>
              <a:rPr lang="en-US" sz="2400" dirty="0" err="1"/>
              <a:t>i</a:t>
            </a:r>
            <a:r>
              <a:rPr lang="en-US" sz="2400" dirty="0"/>
              <a:t> == 0), it means it has a factor other than 1 and itself → </a:t>
            </a:r>
            <a:r>
              <a:rPr lang="en-US" sz="2400" b="1" dirty="0"/>
              <a:t>not prime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If none divide it, then it’s </a:t>
            </a:r>
            <a:r>
              <a:rPr lang="en-US" sz="2400" b="1" dirty="0"/>
              <a:t>prime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431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BA99-1D14-7BC0-695F-3F328800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95EFA-744D-55F6-554A-A0C7A61C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719137"/>
            <a:ext cx="10900568" cy="5313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 Walkthrough:</a:t>
            </a:r>
          </a:p>
          <a:p>
            <a:r>
              <a:rPr lang="en-US" sz="2400" dirty="0"/>
              <a:t>For </a:t>
            </a:r>
            <a:r>
              <a:rPr lang="en-US" dirty="0"/>
              <a:t>num = 7</a:t>
            </a:r>
            <a:br>
              <a:rPr lang="en-US" sz="2400" dirty="0"/>
            </a:br>
            <a:r>
              <a:rPr lang="en-US" sz="2400" dirty="0"/>
              <a:t>Check divisibility:</a:t>
            </a:r>
          </a:p>
          <a:p>
            <a:r>
              <a:rPr lang="en-US" sz="2400" dirty="0"/>
              <a:t>7 % 2 = 1 → not divisible</a:t>
            </a:r>
          </a:p>
          <a:p>
            <a:r>
              <a:rPr lang="en-US" sz="2400" dirty="0"/>
              <a:t>7 % 3 = 1 → not divisible</a:t>
            </a:r>
          </a:p>
          <a:p>
            <a:r>
              <a:rPr lang="en-US" sz="2400" dirty="0"/>
              <a:t>7 % 4 = 3 → not divisible</a:t>
            </a:r>
          </a:p>
          <a:p>
            <a:r>
              <a:rPr lang="en-US" sz="2400" dirty="0"/>
              <a:t>7 % 5 = 2 → not divisible</a:t>
            </a:r>
          </a:p>
          <a:p>
            <a:r>
              <a:rPr lang="en-US" sz="2400" dirty="0"/>
              <a:t>7 % 6 = 1 → not divisible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Since no number divides it evenly, </a:t>
            </a:r>
            <a:r>
              <a:rPr lang="en-US" sz="2400" b="1" dirty="0"/>
              <a:t>7 </a:t>
            </a:r>
            <a:r>
              <a:rPr lang="en-US" sz="2400" b="1" dirty="0">
                <a:solidFill>
                  <a:srgbClr val="C00000"/>
                </a:solidFill>
              </a:rPr>
              <a:t>is a prime number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98280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F8191-30AF-C566-0DE6-D2960F469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DE8C-771F-5F6F-FF4C-DA8ACE402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16" y="1463565"/>
            <a:ext cx="10900568" cy="31470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Program-4</a:t>
            </a:r>
            <a:r>
              <a:rPr lang="en-US" sz="5400" b="1" dirty="0">
                <a:latin typeface="+mj-lt"/>
              </a:rPr>
              <a:t>: Develop a Program to find key elements in an array using </a:t>
            </a:r>
            <a:r>
              <a:rPr lang="en-US" sz="5400" b="1" dirty="0">
                <a:solidFill>
                  <a:srgbClr val="C00000"/>
                </a:solidFill>
                <a:latin typeface="+mj-lt"/>
              </a:rPr>
              <a:t>Linear Search</a:t>
            </a:r>
            <a:endParaRPr lang="en-IN" sz="54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69905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FA78-9399-62F1-BB1A-66027653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D9012-AB28-3A4A-DB3B-73949D763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719137"/>
            <a:ext cx="10900568" cy="53138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What is Linear Search?</a:t>
            </a:r>
          </a:p>
          <a:p>
            <a:r>
              <a:rPr lang="en-US" sz="2400" b="1" dirty="0"/>
              <a:t>Linear Search</a:t>
            </a:r>
            <a:r>
              <a:rPr lang="en-US" sz="2400" dirty="0"/>
              <a:t> is the simplest way to </a:t>
            </a:r>
            <a:r>
              <a:rPr lang="en-US" sz="2400" b="1" dirty="0">
                <a:solidFill>
                  <a:srgbClr val="C00000"/>
                </a:solidFill>
              </a:rPr>
              <a:t>find something in a list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an array</a:t>
            </a:r>
            <a:r>
              <a:rPr lang="en-US" sz="2400" dirty="0"/>
              <a:t>.</a:t>
            </a:r>
          </a:p>
          <a:p>
            <a:r>
              <a:rPr lang="en-US" sz="2400" dirty="0"/>
              <a:t>Imagine you have a list of numbers written on paper: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r>
              <a:rPr lang="en-US" sz="2400" dirty="0"/>
              <a:t>Now someone asks you: “Is the number 30 in the list?”</a:t>
            </a:r>
          </a:p>
          <a:p>
            <a:r>
              <a:rPr lang="en-US" sz="2400" dirty="0"/>
              <a:t>How would you check?</a:t>
            </a:r>
            <a:br>
              <a:rPr lang="en-US" sz="2400" dirty="0"/>
            </a:br>
            <a:r>
              <a:rPr lang="en-US" sz="2400" dirty="0"/>
              <a:t>You start from the first number and check one by one:</a:t>
            </a:r>
          </a:p>
          <a:p>
            <a:pPr lvl="1"/>
            <a:r>
              <a:rPr lang="en-US" sz="2200" dirty="0"/>
              <a:t>Is 10 equal to 30? ❌ No</a:t>
            </a:r>
          </a:p>
          <a:p>
            <a:pPr lvl="1"/>
            <a:r>
              <a:rPr lang="en-US" sz="2200" dirty="0"/>
              <a:t>Is 25 equal to 30? ❌ No</a:t>
            </a:r>
          </a:p>
          <a:p>
            <a:pPr lvl="1"/>
            <a:r>
              <a:rPr lang="en-US" sz="2200" dirty="0"/>
              <a:t>Is 30 equal to 30? ✅ Yes! Found it!</a:t>
            </a:r>
          </a:p>
          <a:p>
            <a:r>
              <a:rPr lang="en-US" sz="2400" dirty="0"/>
              <a:t>That’s exactly how </a:t>
            </a:r>
            <a:r>
              <a:rPr lang="en-US" sz="2400" b="1" dirty="0"/>
              <a:t>Linear Search</a:t>
            </a:r>
            <a:r>
              <a:rPr lang="en-US" sz="2400" dirty="0"/>
              <a:t> works.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C8337-3164-C788-CB6C-A6F6A25A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686" y="2204581"/>
            <a:ext cx="4072285" cy="72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14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B11D-5A46-9DA0-94D4-6922F715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11EC9-6911-3800-6451-FB381E332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1023257"/>
            <a:ext cx="10900568" cy="5009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In simple terms:</a:t>
            </a:r>
          </a:p>
          <a:p>
            <a:r>
              <a:rPr lang="en-US" sz="2400" dirty="0"/>
              <a:t>You start from the </a:t>
            </a:r>
            <a:r>
              <a:rPr lang="en-US" sz="2400" b="1" dirty="0"/>
              <a:t>beginning</a:t>
            </a:r>
            <a:r>
              <a:rPr lang="en-US" sz="2400" dirty="0"/>
              <a:t> of the array.</a:t>
            </a:r>
          </a:p>
          <a:p>
            <a:r>
              <a:rPr lang="en-US" sz="2400" dirty="0"/>
              <a:t>Compare </a:t>
            </a:r>
            <a:r>
              <a:rPr lang="en-US" sz="2400" b="1" dirty="0"/>
              <a:t>each element</a:t>
            </a:r>
            <a:r>
              <a:rPr lang="en-US" sz="2400" dirty="0"/>
              <a:t> with the value you are looking for (called the </a:t>
            </a:r>
            <a:r>
              <a:rPr lang="en-US" sz="2400" b="1" dirty="0"/>
              <a:t>key</a:t>
            </a:r>
            <a:r>
              <a:rPr lang="en-US" sz="2400" dirty="0"/>
              <a:t>).</a:t>
            </a:r>
          </a:p>
          <a:p>
            <a:r>
              <a:rPr lang="en-US" sz="2400" dirty="0"/>
              <a:t>If you find it → stop and say “found”.</a:t>
            </a:r>
          </a:p>
          <a:p>
            <a:r>
              <a:rPr lang="en-US" sz="2400" dirty="0"/>
              <a:t>If you reach the end and don’t find it → say “not found”.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Why is it called </a:t>
            </a:r>
            <a:r>
              <a:rPr lang="en-US" sz="2400" b="1" i="1" dirty="0"/>
              <a:t>Linear</a:t>
            </a:r>
            <a:r>
              <a:rPr lang="en-US" sz="2400" b="1" dirty="0"/>
              <a:t>?</a:t>
            </a:r>
          </a:p>
          <a:p>
            <a:r>
              <a:rPr lang="en-US" sz="2400" dirty="0"/>
              <a:t>Because you go </a:t>
            </a:r>
            <a:r>
              <a:rPr lang="en-US" sz="2400" b="1" dirty="0"/>
              <a:t>in a </a:t>
            </a:r>
            <a:r>
              <a:rPr lang="en-US" sz="2400" b="1" dirty="0">
                <a:solidFill>
                  <a:srgbClr val="C00000"/>
                </a:solidFill>
              </a:rPr>
              <a:t>straight line</a:t>
            </a:r>
            <a:r>
              <a:rPr lang="en-US" sz="2400" dirty="0"/>
              <a:t>, checking one item after another — no skipping or jumping.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48180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7D73-8BFF-AE90-FF1C-1CED3C470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19B41-65AE-9B0E-3458-9EFB31D7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719137"/>
            <a:ext cx="10900568" cy="53138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88952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CA7B-5F5B-15A3-3BBA-E4366EF0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0365-A86F-7446-4E6B-2B59C5B29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719137"/>
            <a:ext cx="10900568" cy="53138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03019002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</TotalTime>
  <Words>1215</Words>
  <Application>Microsoft Office PowerPoint</Application>
  <PresentationFormat>Widescreen</PresentationFormat>
  <Paragraphs>213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Arial</vt:lpstr>
      <vt:lpstr>Calibri</vt:lpstr>
      <vt:lpstr>Cambria Math</vt:lpstr>
      <vt:lpstr>Courier New</vt:lpstr>
      <vt:lpstr>Gill Sans Nova</vt:lpstr>
      <vt:lpstr>ConfettiVTI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NAIK</dc:creator>
  <cp:lastModifiedBy>Pramod Naik</cp:lastModifiedBy>
  <cp:revision>458</cp:revision>
  <dcterms:created xsi:type="dcterms:W3CDTF">2024-11-25T17:19:06Z</dcterms:created>
  <dcterms:modified xsi:type="dcterms:W3CDTF">2025-11-26T19:46:57Z</dcterms:modified>
</cp:coreProperties>
</file>